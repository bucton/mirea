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9"/>
  </p:notesMasterIdLst>
  <p:sldIdLst>
    <p:sldId id="360" r:id="rId2"/>
    <p:sldId id="361" r:id="rId3"/>
    <p:sldId id="366" r:id="rId4"/>
    <p:sldId id="362" r:id="rId5"/>
    <p:sldId id="367" r:id="rId6"/>
    <p:sldId id="368" r:id="rId7"/>
    <p:sldId id="369" r:id="rId8"/>
    <p:sldId id="365" r:id="rId9"/>
    <p:sldId id="370" r:id="rId10"/>
    <p:sldId id="371" r:id="rId11"/>
    <p:sldId id="372" r:id="rId12"/>
    <p:sldId id="373" r:id="rId13"/>
    <p:sldId id="374" r:id="rId14"/>
    <p:sldId id="387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264" r:id="rId2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C82C1"/>
    <a:srgbClr val="295CA8"/>
    <a:srgbClr val="C60A5B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99" autoAdjust="0"/>
  </p:normalViewPr>
  <p:slideViewPr>
    <p:cSldViewPr snapToGrid="0" snapToObjects="1">
      <p:cViewPr varScale="1">
        <p:scale>
          <a:sx n="79" d="100"/>
          <a:sy n="79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41CE770-D18C-4EBC-8994-300A192464C9}" type="datetimeFigureOut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7B59F37-7EFF-4D53-BD0A-F309D73B2A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6AE2E5-ADE9-40B8-8F3C-DA14ADB9D278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4CEC9-CFE3-41A9-97EA-86FDAB581081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rotWithShape="1">
          <a:gsLst>
            <a:gs pos="0">
              <a:srgbClr val="EBEAEA"/>
            </a:gs>
            <a:gs pos="50000">
              <a:srgbClr val="E4E3E3"/>
            </a:gs>
            <a:gs pos="100000">
              <a:srgbClr val="BCBBB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A4846AE-77CD-403B-A598-C7D888588F9E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134CBC0-A448-459C-8EFC-8FBCDE7C76C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9441F83-DF1D-4890-B144-39D8FD1D7A9B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ED530C5-8861-4F7B-B45C-919ED912147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68E892C-BB5E-4A51-817C-1A7DB9FE042A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B16A922-C2A4-44FB-912E-D0BC22FBB3D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9D4CFA4-12CD-4885-ADD2-45D7EF6696C8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B7960EE-401F-4FCC-816E-CD6BBA27634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0FF7C1E-E2A6-4C07-9995-4024CA0C2F1E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9C5DDD0-5777-473E-B4DD-B39E4EFA2B7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A4C39E7-2956-45AA-94A9-6BDA20E8491C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688E70E-BB96-4504-93B9-453C5ADD46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51A39A3-55FC-4BAD-A870-1D01F94942ED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A41E00B-7D1B-482A-BC3A-AF971F89AED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BA25DF75-0D07-4EA9-8E8E-CEE841D758BE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13C4CE8-9B5B-4B59-BAFB-B5B5B3A0C7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8137AA25-FFC9-4FB4-8414-12D7300EB9E0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92303B6-FB18-401E-A653-A8DB776A013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CC88EDF-4A3E-4926-AB33-BE30999E0A8E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F1424AF-AD5A-4276-AE2F-AE585E5ACA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9A215C1B-B610-4F2B-9315-2D0E7EEE4843}" type="datetime1">
              <a:rPr lang="ru-RU"/>
              <a:pPr>
                <a:defRPr/>
              </a:pPr>
              <a:t>28.04.2022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1F93076-7F9F-4033-BB8F-B8F574D38D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head.png"/>
          <p:cNvPicPr>
            <a:picLocks noChangeAspect="1"/>
          </p:cNvPicPr>
          <p:nvPr userDrawn="1"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9" name="Прямоугольник 8"/>
          <p:cNvSpPr/>
          <p:nvPr userDrawn="1"/>
        </p:nvSpPr>
        <p:spPr>
          <a:xfrm>
            <a:off x="5545138" y="-44450"/>
            <a:ext cx="3598862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rgbClr val="00B0F0"/>
                </a:solidFill>
                <a:latin typeface="PT Sans"/>
                <a:cs typeface="+mn-cs"/>
              </a:rPr>
              <a:t>Центр дистанционного обучения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524750" y="6418263"/>
            <a:ext cx="14747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solidFill>
                  <a:srgbClr val="00B0F0"/>
                </a:solidFill>
                <a:latin typeface="PT Sans"/>
                <a:cs typeface="+mn-c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  <a:cs typeface="+mn-cs"/>
            </a:endParaRPr>
          </a:p>
        </p:txBody>
      </p:sp>
      <p:pic>
        <p:nvPicPr>
          <p:cNvPr id="36869" name="Рисунок 3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0" y="0"/>
            <a:ext cx="150177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png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oleObject" Target="../embeddings/oleObject1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2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ChangeArrowheads="1"/>
          </p:cNvSpPr>
          <p:nvPr/>
        </p:nvSpPr>
        <p:spPr bwMode="auto">
          <a:xfrm>
            <a:off x="504825" y="2016125"/>
            <a:ext cx="8388350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/>
            <a:endParaRPr lang="ru-RU" sz="240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algn="ctr" eaLnBrk="0" hangingPunct="0"/>
            <a:endParaRPr lang="ru-RU" sz="240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algn="ctr" eaLnBrk="0" hangingPunct="0"/>
            <a:r>
              <a:rPr lang="ru-RU" sz="2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МИНИСТЕРСТВО НАУКИ И ВЫСШЕГО ОБРАЗОВАНИЯ РОССИЙСКОЙ ФЕДЕРАЦИИ</a:t>
            </a:r>
          </a:p>
          <a:p>
            <a:pPr algn="ctr" eaLnBrk="0" hangingPunct="0"/>
            <a:r>
              <a:rPr lang="ru-RU" sz="2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МИРЭА – РОССИЙСКИЙ ТЕХНОЛОГИЧЕСКИЙ УНИВЕРСИТЕТ</a:t>
            </a:r>
          </a:p>
        </p:txBody>
      </p:sp>
      <p:pic>
        <p:nvPicPr>
          <p:cNvPr id="49155" name="Picture 3" descr="https://www.mirea.ru/upload/medialibrary/80f/MIREA_Gerb_Colour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7925" y="874713"/>
            <a:ext cx="1584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6" name="TextBox 5"/>
          <p:cNvSpPr txBox="1">
            <a:spLocks noChangeArrowheads="1"/>
          </p:cNvSpPr>
          <p:nvPr/>
        </p:nvSpPr>
        <p:spPr bwMode="auto">
          <a:xfrm>
            <a:off x="522288" y="3771900"/>
            <a:ext cx="7993062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/>
              <a:t>Институт тонких химических технологий</a:t>
            </a:r>
          </a:p>
          <a:p>
            <a:pPr algn="ctr"/>
            <a:r>
              <a:rPr lang="ru-RU"/>
              <a:t> Кафедра физики и технической механики </a:t>
            </a:r>
          </a:p>
        </p:txBody>
      </p:sp>
      <p:sp>
        <p:nvSpPr>
          <p:cNvPr id="49157" name="TextBox 6"/>
          <p:cNvSpPr txBox="1">
            <a:spLocks noChangeArrowheads="1"/>
          </p:cNvSpPr>
          <p:nvPr/>
        </p:nvSpPr>
        <p:spPr bwMode="auto">
          <a:xfrm>
            <a:off x="244475" y="4418013"/>
            <a:ext cx="86487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Лекция №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12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smtClean="0">
                <a:latin typeface="Times New Roman" pitchFamily="18" charset="0"/>
                <a:cs typeface="Times New Roman" pitchFamily="18" charset="0"/>
              </a:rPr>
              <a:t>Дифракция.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158" name="TextBox 5"/>
          <p:cNvSpPr txBox="1">
            <a:spLocks noChangeArrowheads="1"/>
          </p:cNvSpPr>
          <p:nvPr/>
        </p:nvSpPr>
        <p:spPr bwMode="auto">
          <a:xfrm>
            <a:off x="5508625" y="5957888"/>
            <a:ext cx="33845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/>
              <a:t>Лектор: доцент Комова Н.Н.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EDE070-0B69-46A6-9CA4-F5CB73AB1E05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41E00B-7D1B-482A-BC3A-AF971F89AED3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67425" y="1602207"/>
            <a:ext cx="897657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x-none" sz="2000" smtClean="0">
                <a:latin typeface="Times New Roman" pitchFamily="18" charset="0"/>
                <a:cs typeface="Times New Roman" pitchFamily="18" charset="0"/>
              </a:rPr>
              <a:t>Дифракция </a:t>
            </a:r>
            <a:r>
              <a:rPr lang="x-none" sz="2000">
                <a:latin typeface="Times New Roman" pitchFamily="18" charset="0"/>
                <a:cs typeface="Times New Roman" pitchFamily="18" charset="0"/>
              </a:rPr>
              <a:t>Френеля на круглом отверстии и диске</a:t>
            </a:r>
            <a:r>
              <a:rPr lang="x-none" sz="200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pPr>
              <a:buFontTx/>
              <a:buChar char="-"/>
            </a:pPr>
            <a:r>
              <a:rPr lang="ru-RU" dirty="0" smtClean="0"/>
              <a:t>- </a:t>
            </a:r>
            <a:r>
              <a:rPr lang="ru-RU" b="1" dirty="0" smtClean="0"/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Условие максимумов и минимумов при дифракции от щели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dirty="0"/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График зависимости интенсивности дифракционной картины от угла дифракции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dirty="0"/>
              <a:t> </a:t>
            </a:r>
            <a:r>
              <a:rPr lang="ru-RU" sz="2000" b="1" dirty="0" smtClean="0"/>
              <a:t/>
            </a:r>
            <a:br>
              <a:rPr lang="ru-RU" sz="2000" b="1" dirty="0" smtClean="0"/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Дифракция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Фраунгофера на дифракционной решетке. Условие главных максимумов, главных и дополнительных минимумов. Распределение интенсивности на экране в зависимости от синуса угла дифракции.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Дифракционная решетка как основной элемент спектрального прибора. Разложение сложного (полихроматического) света в спектр. Угловая и линейная дисперсии. Разрешающая способность спектрального прибора. Условие разрешимости спектральных линий (критерий Рэлея).     </a:t>
            </a:r>
          </a:p>
          <a:p>
            <a:pPr lvl="0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i="1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2317750" y="1017432"/>
            <a:ext cx="41402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3200" dirty="0">
                <a:latin typeface="Monotype Corsiva" pitchFamily="66" charset="0"/>
              </a:rPr>
              <a:t>ДИФРАКЦИЯ СВЕТА</a:t>
            </a:r>
            <a:br>
              <a:rPr lang="ru-RU" sz="3200" dirty="0">
                <a:latin typeface="Monotype Corsiva" pitchFamily="66" charset="0"/>
              </a:rPr>
            </a:br>
            <a:endParaRPr lang="ru-RU" sz="3200" dirty="0">
              <a:latin typeface="Monotype Corsiva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1" name="Rectangle 5"/>
          <p:cNvSpPr>
            <a:spLocks noChangeArrowheads="1"/>
          </p:cNvSpPr>
          <p:nvPr/>
        </p:nvSpPr>
        <p:spPr bwMode="auto">
          <a:xfrm>
            <a:off x="2598738" y="1071563"/>
            <a:ext cx="4787900" cy="647700"/>
          </a:xfrm>
          <a:prstGeom prst="rect">
            <a:avLst/>
          </a:prstGeom>
          <a:solidFill>
            <a:srgbClr val="33CCCC">
              <a:alpha val="50195"/>
            </a:srgbClr>
          </a:solidFill>
          <a:ln w="9525">
            <a:solidFill>
              <a:srgbClr val="00808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5000"/>
              </a:spcBef>
              <a:spcAft>
                <a:spcPct val="20000"/>
              </a:spcAft>
            </a:pPr>
            <a:r>
              <a:rPr lang="ru-RU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Метод зон Френеля.</a:t>
            </a:r>
            <a:endParaRPr lang="en-US" sz="36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866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" y="1882775"/>
            <a:ext cx="7358063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8663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9388" y="5605463"/>
            <a:ext cx="4171950" cy="476250"/>
          </a:xfrm>
          <a:prstGeom prst="rect">
            <a:avLst/>
          </a:prstGeom>
          <a:noFill/>
          <a:ln w="6350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98664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9388" y="6340475"/>
            <a:ext cx="45370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8675" name="Picture 1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859338" y="5300663"/>
            <a:ext cx="411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122" name="Object 10"/>
          <p:cNvGraphicFramePr>
            <a:graphicFrameLocks noChangeAspect="1"/>
          </p:cNvGraphicFramePr>
          <p:nvPr/>
        </p:nvGraphicFramePr>
        <p:xfrm>
          <a:off x="5468938" y="5688013"/>
          <a:ext cx="1436687" cy="890587"/>
        </p:xfrm>
        <a:graphic>
          <a:graphicData uri="http://schemas.openxmlformats.org/presentationml/2006/ole">
            <p:oleObj spid="_x0000_s97282" name="Формула" r:id="rId7" imgW="63468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9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77140" y="6173787"/>
            <a:ext cx="2057400" cy="365125"/>
          </a:xfrm>
        </p:spPr>
        <p:txBody>
          <a:bodyPr/>
          <a:lstStyle/>
          <a:p>
            <a:pPr>
              <a:defRPr/>
            </a:pPr>
            <a:fld id="{3A41E00B-7D1B-482A-BC3A-AF971F89AED3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56068"/>
            <a:ext cx="8515349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нахождения амплитуды колебания, возбуждаемого световой волной  в т. М, применим принцип Гюйгенса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Френеля.  Заменим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действие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источника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действием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воображаемых источников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расположенных на вспомогательной поверхности Ф,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являющейся поверхностью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фронта волны,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идущей из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(поверхность сферы с центром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S).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13" y="2964283"/>
            <a:ext cx="3979572" cy="2444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3998084" y="2601532"/>
            <a:ext cx="5145915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Френель предложил разбить волновую поверхность Ф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кольцевые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зоны</a:t>
            </a:r>
            <a:r>
              <a:rPr lang="ru-RU" dirty="0"/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такого размера, чтобы расстояния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 краев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зоны до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отличались на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/2.</a:t>
            </a:r>
            <a:r>
              <a:rPr lang="ru-RU" sz="2000" dirty="0"/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Подобное разбиение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фронта волны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 зоны можно выполнить, проведя с центром в точке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сферы радиусами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 /2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;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b+2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/2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;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b+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/2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;…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олебания от соседних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зон проходят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 точки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расстояния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отличающиеся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/2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то в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т. М они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приходят в противоположной фазе и при наложении эти колебании будут взаимно ослаблять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друг друга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41E00B-7D1B-482A-BC3A-AF971F89AED3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895216"/>
            <a:ext cx="8983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Амплитуда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результирующего светового колебания в точке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65363" y="1248636"/>
            <a:ext cx="3105127" cy="354466"/>
          </a:xfrm>
          <a:prstGeom prst="rect">
            <a:avLst/>
          </a:prstGeom>
          <a:noFill/>
          <a:ln w="635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65740" y="1628507"/>
            <a:ext cx="8983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0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0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...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амплитуды колебаний, возбуждаемых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1-й, 2-й, ... зонами.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1957589"/>
            <a:ext cx="8815589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Для оценки амплитуд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колебаний определим площади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зон Френеля. Пусть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внешняя граница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зоны выделяет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волновой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поверхности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сферический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сегмент высоты </a:t>
            </a:r>
            <a:r>
              <a:rPr lang="en-GB" sz="20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2000" dirty="0">
                <a:latin typeface="Times New Roman" pitchFamily="18" charset="0"/>
                <a:cs typeface="Times New Roman" pitchFamily="18" charset="0"/>
              </a:rPr>
            </a:b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681471" y="2614411"/>
            <a:ext cx="430154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i="1" dirty="0">
                <a:latin typeface="Times New Roman" pitchFamily="18" charset="0"/>
                <a:cs typeface="Times New Roman" pitchFamily="18" charset="0"/>
                <a:sym typeface="Symbol"/>
              </a:rPr>
              <a:t></a:t>
            </a:r>
            <a:r>
              <a:rPr lang="ru-RU" sz="2000" i="1" baseline="-25000" dirty="0" smtClean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площадь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этого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сегмента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площадь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m-й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зоны Френеля равна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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m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</a:t>
            </a:r>
            <a:r>
              <a:rPr lang="ru-RU" sz="2000" i="1" baseline="-25000" dirty="0" smtClean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</a:t>
            </a:r>
            <a:r>
              <a:rPr lang="ru-RU" sz="2000" i="1" baseline="-25000" dirty="0" smtClean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</a:t>
            </a:r>
            <a:r>
              <a:rPr lang="ru-RU" sz="2000" i="1" baseline="-25000" dirty="0" smtClean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sz="20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площадь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сферического сегмента, выделяемого внешней границей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(т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)-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й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зоны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8310" name="Picture 6" descr="https://i1.wp.com/physbook.ru/images/2/29/Aksen-17.1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065172"/>
            <a:ext cx="4520485" cy="2901330"/>
          </a:xfrm>
          <a:prstGeom prst="rect">
            <a:avLst/>
          </a:prstGeom>
          <a:noFill/>
        </p:spPr>
      </p:pic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4622987" y="4494130"/>
          <a:ext cx="4425767" cy="672543"/>
        </p:xfrm>
        <a:graphic>
          <a:graphicData uri="http://schemas.openxmlformats.org/presentationml/2006/ole">
            <p:oleObj spid="_x0000_s98312" name="Формула" r:id="rId5" imgW="2590560" imgH="393480" progId="Equation.3">
              <p:embed/>
            </p:oleObj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4171950" y="5166673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учитывая, что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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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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получим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/>
        </p:nvGraphicFramePr>
        <p:xfrm>
          <a:off x="4622987" y="5641098"/>
          <a:ext cx="1661903" cy="818550"/>
        </p:xfrm>
        <a:graphic>
          <a:graphicData uri="http://schemas.openxmlformats.org/presentationml/2006/ole">
            <p:oleObj spid="_x0000_s98314" name="Формула" r:id="rId6" imgW="850680" imgH="419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515350" y="6492875"/>
            <a:ext cx="2057400" cy="365125"/>
          </a:xfrm>
        </p:spPr>
        <p:txBody>
          <a:bodyPr/>
          <a:lstStyle/>
          <a:p>
            <a:pPr>
              <a:defRPr/>
            </a:pPr>
            <a:fld id="{3A41E00B-7D1B-482A-BC3A-AF971F89AED3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2502" y="1081825"/>
            <a:ext cx="877695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Площадь сферического сегмента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площадь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m-й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зоны Френеля соответственно равны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1382490" y="1455738"/>
          <a:ext cx="2705100" cy="769937"/>
        </p:xfrm>
        <a:graphic>
          <a:graphicData uri="http://schemas.openxmlformats.org/presentationml/2006/ole">
            <p:oleObj spid="_x0000_s100354" name="Формула" r:id="rId3" imgW="1384200" imgH="393480" progId="Equation.3">
              <p:embed/>
            </p:oleObj>
          </a:graphicData>
        </a:graphic>
      </p:graphicFrame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4932362" y="1455738"/>
          <a:ext cx="3051175" cy="769938"/>
        </p:xfrm>
        <a:graphic>
          <a:graphicData uri="http://schemas.openxmlformats.org/presentationml/2006/ole">
            <p:oleObj spid="_x0000_s100355" name="Формула" r:id="rId4" imgW="1562040" imgH="393480" progId="Equation.3">
              <p:embed/>
            </p:oleObj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212502" y="2066710"/>
            <a:ext cx="877695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- Площадь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m-й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зоны Френеля</a:t>
            </a:r>
            <a:r>
              <a:rPr lang="ru-RU" dirty="0"/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 зависит от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т,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следовательно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при не слишком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больших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площади зон Френеля одинаковы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/>
              <a:t> </a:t>
            </a:r>
            <a:r>
              <a:rPr lang="ru-RU" sz="2000" dirty="0" smtClean="0"/>
              <a:t>   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Построение зон Френеля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разбивает волновую поверхность сферической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волны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 равновеликие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зоны.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- Действие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отдельных зон в точке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тем меньше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чем больше угол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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между 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нормалью </a:t>
            </a:r>
            <a:r>
              <a:rPr lang="ru-RU" sz="2000" i="1" dirty="0" err="1"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поверхности зоны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направлением на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М,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т. е. действие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зон постепенно убывает от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центральной (около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Ро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периферическим.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/>
              <a:t> </a:t>
            </a:r>
            <a:r>
              <a:rPr lang="ru-RU" sz="2000" dirty="0" smtClean="0"/>
              <a:t>   -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Интенсивность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излучения в направлении точки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уменьшается с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ростом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вследствие увеличения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расстояния от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зоны до точки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М.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dirty="0"/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Стрелка вправо 6"/>
          <p:cNvSpPr/>
          <p:nvPr/>
        </p:nvSpPr>
        <p:spPr>
          <a:xfrm>
            <a:off x="212502" y="4984125"/>
            <a:ext cx="817808" cy="2318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5"/>
          <a:srcRect l="39740" r="3488"/>
          <a:stretch>
            <a:fillRect/>
          </a:stretch>
        </p:blipFill>
        <p:spPr bwMode="auto">
          <a:xfrm>
            <a:off x="1030310" y="4825419"/>
            <a:ext cx="25757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Прямоугольник 8"/>
          <p:cNvSpPr/>
          <p:nvPr/>
        </p:nvSpPr>
        <p:spPr>
          <a:xfrm>
            <a:off x="-25759" y="5215944"/>
            <a:ext cx="89894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качестве допустимого приближения можно считать, что амплитуда колебания </a:t>
            </a:r>
            <a:r>
              <a:rPr lang="ru-RU" sz="2000" i="1" dirty="0" err="1" smtClean="0">
                <a:latin typeface="Times New Roman" pitchFamily="18" charset="0"/>
                <a:cs typeface="Times New Roman" pitchFamily="18" charset="0"/>
              </a:rPr>
              <a:t>Ат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от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некоторой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m-й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зоны Френеля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равна среднему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арифметическому от амплитуд примыкающих к ней зон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Стрелка вправо 10"/>
          <p:cNvSpPr/>
          <p:nvPr/>
        </p:nvSpPr>
        <p:spPr>
          <a:xfrm>
            <a:off x="4087589" y="6120494"/>
            <a:ext cx="381379" cy="235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4932362" y="5866182"/>
          <a:ext cx="2047987" cy="755805"/>
        </p:xfrm>
        <a:graphic>
          <a:graphicData uri="http://schemas.openxmlformats.org/presentationml/2006/ole">
            <p:oleObj spid="_x0000_s100356" name="Формула" r:id="rId6" imgW="106668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41E00B-7D1B-482A-BC3A-AF971F89AED3}" type="slidenum">
              <a:rPr lang="ru-RU" smtClean="0"/>
              <a:pPr>
                <a:defRPr/>
              </a:pPr>
              <a:t>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02654" y="1094704"/>
            <a:ext cx="88413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Тогда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можно записать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2654" y="1601787"/>
            <a:ext cx="4884738" cy="72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12386" y="1536700"/>
            <a:ext cx="3206750" cy="78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-1" y="2324100"/>
            <a:ext cx="89508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 Выражения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стоящие в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скобках, равны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нулю, а оставшаяся часть от амплитуды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последней зоны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ничтожно мала.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-1" y="2987899"/>
            <a:ext cx="89508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    Амплитуда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результирующих колебаний в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произвольной точке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определяется как бы действием только половины центральной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зоны Френеля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Следовательно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действие всей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волновой поверхности на точку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сводится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 действию ее малого участка, меньшего центральной зоны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/>
              <a:t> </a:t>
            </a:r>
            <a:r>
              <a:rPr lang="en-US" sz="2000" dirty="0" smtClean="0"/>
              <a:t>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высота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сегмента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i="1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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(при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 слишком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больших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т),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тогда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000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= 2ah</a:t>
            </a:r>
            <a:r>
              <a:rPr lang="ru-RU" sz="2000" i="1" baseline="-25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адиус внешней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границы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m-й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зоны Френеля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5417" y="5477158"/>
            <a:ext cx="1831975" cy="746125"/>
          </a:xfrm>
          <a:prstGeom prst="rect">
            <a:avLst/>
          </a:prstGeom>
          <a:noFill/>
          <a:ln w="63500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0" name="Rectangle 4"/>
          <p:cNvSpPr>
            <a:spLocks noChangeArrowheads="1"/>
          </p:cNvSpPr>
          <p:nvPr/>
        </p:nvSpPr>
        <p:spPr bwMode="auto">
          <a:xfrm>
            <a:off x="3970421" y="1008229"/>
            <a:ext cx="4652712" cy="1082842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25000"/>
              </a:spcBef>
              <a:spcAft>
                <a:spcPct val="20000"/>
              </a:spcAft>
              <a:defRPr/>
            </a:pPr>
            <a:r>
              <a:rPr lang="ru-RU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Дифракция Френеля </a:t>
            </a:r>
            <a:br>
              <a:rPr lang="ru-RU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от круглого отверстия.</a:t>
            </a:r>
            <a:endParaRPr lang="en-US" sz="28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2355" name="Picture 1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91071"/>
            <a:ext cx="3285034" cy="448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2356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6463" y="2460403"/>
            <a:ext cx="2430462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2" name="Прямоугольник 12"/>
          <p:cNvSpPr>
            <a:spLocks noChangeArrowheads="1"/>
          </p:cNvSpPr>
          <p:nvPr/>
        </p:nvSpPr>
        <p:spPr bwMode="auto">
          <a:xfrm>
            <a:off x="3140242" y="2944591"/>
            <a:ext cx="5811671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знак «+» соответствует нечетным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«—»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четным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т.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Если отверстие открывает нечетное число зон Френеля, то амплитуда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(и интенсивность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в точке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будет больше, чем при свободном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распространении волны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если четное, то амплитуда (интенсивность) будет равна нулю.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Если отверстие открывает одну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зону Френеля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то 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амплитуда 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А =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(из (С)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=2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 ) т.е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вдвое больше, чем в отсутствие непрозрачного экрана с отверстием 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Поэтому интенсивность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света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этом случае больше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соответственно в четыре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раза, т.к.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 A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06800" y="2091071"/>
            <a:ext cx="5200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Амплитуда колебаний светового вектора в т.В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6925" y="2460403"/>
            <a:ext cx="87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(С)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8C4D12-17BA-43E1-BCE6-BDF6A5BB09D9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  <p:sp>
        <p:nvSpPr>
          <p:cNvPr id="36867" name="Прямоугольник 2"/>
          <p:cNvSpPr>
            <a:spLocks noChangeArrowheads="1"/>
          </p:cNvSpPr>
          <p:nvPr/>
        </p:nvSpPr>
        <p:spPr bwMode="auto">
          <a:xfrm>
            <a:off x="0" y="1143000"/>
            <a:ext cx="9144000" cy="581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отверстие открывает две зоны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Френеля, то их действия в точке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практически уничтожат друг друга из-за интерференции. Таким образом, дифракционная картина от круглого отверстия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вблизи точки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будет иметь вид чередующихся темных и светлых колец с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центрами в точке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(если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т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четное, то в центре будет темное кольцо, если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нечетное — то светлое кольцо), причем интенсивность в максимумах убывает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 расстоянием от центра картины. 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    Расчет амплитуды результирующего колебания на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внеосевых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участках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экрана более сложен, так как соответствующие им зоны Френеля частично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перекрываются непрозрачным экраном. Если отверстие освещается не монохроматическим, а белым светом, то кольца окрашены.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Число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зон Френеля, открываемых отверстием, зависит от его диаметра.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он большой, то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baseline="-25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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sz="2000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результирующая амплитуда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А = А</a:t>
            </a:r>
            <a:r>
              <a:rPr lang="ru-RU" sz="2000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/2,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т.е. такая же, как и при полностью открытом волновом фронте. В данном случае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дифракции не наблюдается, свет распространяется, как и в отсутствие круглого отверстия, прямолинейно.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4" name="Rectangle 8"/>
          <p:cNvSpPr>
            <a:spLocks noChangeArrowheads="1"/>
          </p:cNvSpPr>
          <p:nvPr/>
        </p:nvSpPr>
        <p:spPr bwMode="auto">
          <a:xfrm>
            <a:off x="895350" y="1063625"/>
            <a:ext cx="6577013" cy="747713"/>
          </a:xfrm>
          <a:prstGeom prst="rect">
            <a:avLst/>
          </a:prstGeom>
          <a:solidFill>
            <a:srgbClr val="33CCCC">
              <a:alpha val="50195"/>
            </a:srgbClr>
          </a:solidFill>
          <a:ln w="9525">
            <a:solidFill>
              <a:srgbClr val="008080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25000"/>
              </a:spcBef>
              <a:spcAft>
                <a:spcPct val="20000"/>
              </a:spcAft>
            </a:pPr>
            <a:r>
              <a:rPr lang="ru-RU" sz="3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Дифракция Френеля на диске.</a:t>
            </a:r>
            <a:endParaRPr lang="en-US" sz="360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7705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4225" y="1811338"/>
            <a:ext cx="3171825" cy="488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706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88" y="4397375"/>
            <a:ext cx="481965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707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088" y="4949825"/>
            <a:ext cx="56483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708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9538" y="5637213"/>
            <a:ext cx="15716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5" name="Прямоугольник 8"/>
          <p:cNvSpPr>
            <a:spLocks noChangeArrowheads="1"/>
          </p:cNvSpPr>
          <p:nvPr/>
        </p:nvSpPr>
        <p:spPr bwMode="auto">
          <a:xfrm>
            <a:off x="65088" y="1811338"/>
            <a:ext cx="6708775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Сферическая волна, распространяющаяся от точечного источника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S,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встречает на своем пути непрозрачный диск. Дифракционную картину наблюдаем на экране Э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 точке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В,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лежащей на линии, соединяющей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место расположения источника света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 центром диска. 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  Закрытый диском участок волнового фронта надо исключить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из рассмотрения и зоны Френеля строить, начиная с краев диска. Если диск закрывает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первых зон Френеля. Тогда амплитуда результирующего колебания в точке 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равна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77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5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D93E2E-10C8-4B91-BFA5-735CB7FF409E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  <p:sp>
        <p:nvSpPr>
          <p:cNvPr id="38915" name="Прямоугольник 2"/>
          <p:cNvSpPr>
            <a:spLocks noChangeArrowheads="1"/>
          </p:cNvSpPr>
          <p:nvPr/>
        </p:nvSpPr>
        <p:spPr bwMode="auto">
          <a:xfrm>
            <a:off x="252413" y="1095375"/>
            <a:ext cx="8891587" cy="378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>
                <a:latin typeface="Times New Roman" pitchFamily="18" charset="0"/>
                <a:cs typeface="Times New Roman" pitchFamily="18" charset="0"/>
              </a:rPr>
              <a:t>В точке </a:t>
            </a:r>
            <a:r>
              <a:rPr lang="ru-RU" sz="2000" i="1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>
                <a:latin typeface="Times New Roman" pitchFamily="18" charset="0"/>
                <a:cs typeface="Times New Roman" pitchFamily="18" charset="0"/>
              </a:rPr>
              <a:t>всегда наблюдается интерференционный максимум (светлое пятно), 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соответствующий половине действия первой открытой зоны Френеля. Центральный максимум окружен концентрическими с ним темными и светлыми кольцами, а интенсивность в максимумах убывает с расстоянием от центра картины.</a:t>
            </a:r>
          </a:p>
          <a:p>
            <a:r>
              <a:rPr lang="ru-RU" sz="2000">
                <a:latin typeface="Times New Roman" pitchFamily="18" charset="0"/>
                <a:cs typeface="Times New Roman" pitchFamily="18" charset="0"/>
              </a:rPr>
              <a:t>С увеличением диаметра диска первая открытая зона Френеля удаляется</a:t>
            </a:r>
            <a:br>
              <a:rPr lang="ru-RU" sz="2000">
                <a:latin typeface="Times New Roman" pitchFamily="18" charset="0"/>
                <a:cs typeface="Times New Roman" pitchFamily="18" charset="0"/>
              </a:rPr>
            </a:br>
            <a:r>
              <a:rPr lang="ru-RU" sz="2000">
                <a:latin typeface="Times New Roman" pitchFamily="18" charset="0"/>
                <a:cs typeface="Times New Roman" pitchFamily="18" charset="0"/>
              </a:rPr>
              <a:t>от точки </a:t>
            </a:r>
            <a:r>
              <a:rPr lang="ru-RU" sz="2000" i="1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и увеличивается угол между нормалью к поверхности этой зоны и направлением на точку </a:t>
            </a:r>
            <a:r>
              <a:rPr lang="ru-RU" sz="2000" i="1">
                <a:latin typeface="Times New Roman" pitchFamily="18" charset="0"/>
                <a:cs typeface="Times New Roman" pitchFamily="18" charset="0"/>
              </a:rPr>
              <a:t>В. </a:t>
            </a:r>
            <a:r>
              <a:rPr lang="ru-RU" sz="2000">
                <a:latin typeface="Times New Roman" pitchFamily="18" charset="0"/>
                <a:cs typeface="Times New Roman" pitchFamily="18" charset="0"/>
              </a:rPr>
              <a:t>В результате интенсивность центрального максимума с увеличением размеров диска уменьшается. При больших размерах диска за ним наблюдается тень, вблизи границ которой имеет место весьма слабая дифракционная картина.</a:t>
            </a:r>
            <a:br>
              <a:rPr lang="ru-RU" sz="2000">
                <a:latin typeface="Times New Roman" pitchFamily="18" charset="0"/>
                <a:cs typeface="Times New Roman" pitchFamily="18" charset="0"/>
              </a:rPr>
            </a:br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C98A49-D7AB-4CCF-B47F-6762FAA735F3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  <p:sp>
        <p:nvSpPr>
          <p:cNvPr id="39939" name="AutoShape 2" descr="https://s0.slide-share.ru/s_slide/b266c895f6289aaa53af3805cebca497/db8c71f6-25fd-4044-968c-bbba6d9cb3fa.jpe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9940" name="AutoShape 4" descr="https://s0.slide-share.ru/s_slide/b266c895f6289aaa53af3805cebca497/db8c71f6-25fd-4044-968c-bbba6d9cb3fa.jpe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9941" name="AutoShape 6" descr="https://s0.slide-share.ru/s_slide/b266c895f6289aaa53af3805cebca497/db8c71f6-25fd-4044-968c-bbba6d9cb3fa.jpe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39942" name="Picture 8" descr="https://ds05.infourok.ru/uploads/ex/0111/000f4350-062f6467/img13.jpg"/>
          <p:cNvPicPr>
            <a:picLocks noChangeAspect="1" noChangeArrowheads="1"/>
          </p:cNvPicPr>
          <p:nvPr/>
        </p:nvPicPr>
        <p:blipFill>
          <a:blip r:embed="rId2"/>
          <a:srcRect l="6754" t="13600" b="4005"/>
          <a:stretch>
            <a:fillRect/>
          </a:stretch>
        </p:blipFill>
        <p:spPr bwMode="auto">
          <a:xfrm>
            <a:off x="155575" y="1071563"/>
            <a:ext cx="8526463" cy="528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946424" y="755412"/>
            <a:ext cx="3568926" cy="369332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0"/>
          </a:gradFill>
          <a:ln>
            <a:gradFill flip="none" rotWithShape="1">
              <a:gsLst>
                <a:gs pos="0">
                  <a:srgbClr val="FC9FCB"/>
                </a:gs>
                <a:gs pos="13000">
                  <a:srgbClr val="F8B049"/>
                </a:gs>
                <a:gs pos="21001">
                  <a:srgbClr val="F8B049"/>
                </a:gs>
                <a:gs pos="63000">
                  <a:srgbClr val="FEE7F2"/>
                </a:gs>
                <a:gs pos="67000">
                  <a:srgbClr val="F952A0"/>
                </a:gs>
                <a:gs pos="69000">
                  <a:srgbClr val="C50849"/>
                </a:gs>
                <a:gs pos="82001">
                  <a:srgbClr val="B43E85"/>
                </a:gs>
                <a:gs pos="100000">
                  <a:srgbClr val="F8B049"/>
                </a:gs>
              </a:gsLst>
              <a:lin ang="5400000" scaled="0"/>
              <a:tileRect r="-100000" b="-100000"/>
            </a:gradFill>
          </a:ln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ДИФРАКЦИЯ ФРАУНГОФЕРА.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1124744"/>
            <a:ext cx="86409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u="sng" dirty="0" smtClean="0">
                <a:latin typeface="Times New Roman" pitchFamily="18" charset="0"/>
                <a:cs typeface="Times New Roman" pitchFamily="18" charset="0"/>
              </a:rPr>
              <a:t>Дифракция Фраунгофера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(или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дифракция 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параллельных лучах)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наблюдается в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том случае, когда источник света и точка наблюдения бесконечно удалены от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препятствия, вызвавшего дифракцию. Для наблюдения такой дифракции достаточно точечный источник света поместить в фокусе собирающей линзы, а дифракционную картину исследовать в фокальной плоскости второй собирающей линзы, установленной за препятствием.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5" name="Picture 1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33757"/>
            <a:ext cx="2232248" cy="2609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2339752" y="2780928"/>
            <a:ext cx="68042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Дифракция Фраунгофера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 одной щели.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Пусть плоская монохроматическая световая волна падает нормально плоскости узкой бесконечной щели шириной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меньше длины щели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ℓ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Оптическая разность хода между крайними лучами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MC и  ND,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идущими от щели в произвольном направлении под углом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, =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NF=a sin.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339752" y="4656221"/>
            <a:ext cx="66064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Согласно принципу Гюйгенса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Френеля, каждая точка щели является источником вторичных волн. Открытую часть волновой поверхности в плоскости щели М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разбивают на зоны Френеля, имеющие вид полос, параллельных ребру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щели.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979712" y="443711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Л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2051720" y="515719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212432" y="5489361"/>
            <a:ext cx="511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B</a:t>
            </a:r>
            <a:r>
              <a:rPr lang="en-US" sz="1400" b="1" baseline="-25000" dirty="0" smtClean="0"/>
              <a:t>o</a:t>
            </a:r>
            <a:endParaRPr lang="ru-RU" sz="1400" b="1" baseline="-250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5797138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Ширина каждой зоны выбирается так, чтобы разность хода от краев этих зон до линзы была равна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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/2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т. е. всего на ширине щели уместится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/ зон.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41E00B-7D1B-482A-BC3A-AF971F89AED3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90414" y="1167063"/>
            <a:ext cx="9053586" cy="1455821"/>
            <a:chOff x="224" y="3315"/>
            <a:chExt cx="5441" cy="864"/>
          </a:xfrm>
        </p:grpSpPr>
        <p:pic>
          <p:nvPicPr>
            <p:cNvPr id="4" name="Picture 12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l="2015" t="4922"/>
            <a:stretch>
              <a:fillRect/>
            </a:stretch>
          </p:blipFill>
          <p:spPr bwMode="auto">
            <a:xfrm>
              <a:off x="224" y="3315"/>
              <a:ext cx="5406" cy="491"/>
            </a:xfrm>
            <a:prstGeom prst="rect">
              <a:avLst/>
            </a:prstGeom>
            <a:noFill/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pic>
          <p:nvPicPr>
            <p:cNvPr id="5" name="Picture 13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l="2490" t="7636"/>
            <a:stretch>
              <a:fillRect/>
            </a:stretch>
          </p:blipFill>
          <p:spPr bwMode="auto">
            <a:xfrm>
              <a:off x="224" y="3823"/>
              <a:ext cx="5441" cy="35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</p:grp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0414" y="2622884"/>
            <a:ext cx="842493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В соответствии с принципом 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Гюйгенса-Френеля,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вклад в колебание в точке 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Р 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от элемента поверхности </a:t>
            </a:r>
            <a:r>
              <a:rPr kumimoji="0" lang="ru-RU" sz="2000" b="0" i="1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dS</a:t>
            </a:r>
            <a:r>
              <a:rPr kumimoji="0" lang="ru-RU" sz="20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определяется как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238124" y="3792435"/>
            <a:ext cx="4439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=(a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/r)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sz="2400" i="1" dirty="0" smtClean="0">
                <a:latin typeface="Times New Roman" pitchFamily="18" charset="0"/>
                <a:cs typeface="Times New Roman" pitchFamily="18" charset="0"/>
              </a:rPr>
              <a:t>α)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dS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sz="2400" i="1" dirty="0" smtClean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t−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kr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l-GR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r>
              <a:rPr lang="el-GR" sz="2400" i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l-GR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7218" name="Picture 2" descr="http://900igr.net/up/datas/94976/009.jpg"/>
          <p:cNvPicPr>
            <a:picLocks noChangeAspect="1" noChangeArrowheads="1"/>
          </p:cNvPicPr>
          <p:nvPr/>
        </p:nvPicPr>
        <p:blipFill>
          <a:blip r:embed="rId4"/>
          <a:srcRect l="8562" t="35468" r="60254" b="24883"/>
          <a:stretch>
            <a:fillRect/>
          </a:stretch>
        </p:blipFill>
        <p:spPr bwMode="auto">
          <a:xfrm>
            <a:off x="601578" y="3330770"/>
            <a:ext cx="3248527" cy="30977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14020" y="991673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Свет на щель падает нормально, поэтому плоскость щели совпадает с волновым фронтом; следовательно, все точки волнового фронта в плоскости щели будут колебаться в одинаковой фазе. Амплитуды вторичных волн в плоскости щели будут равны, так как выбранные зоны Френеля имеют одинаковые площади и одинаково наклонены к направлению наблюдения. Число зон Френеля, укладывающихся на ширине щели, зависит от угла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 А от числа зон Френеля зависит результат наложения всех вторичных волн.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</a:t>
            </a:r>
            <a:br>
              <a:rPr lang="ru-RU" dirty="0" smtClean="0"/>
            </a:br>
            <a:r>
              <a:rPr lang="ru-RU" dirty="0" smtClean="0"/>
              <a:t> 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-14020" y="2626494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интерференции света от каждой пары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соседних зон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Френеля амплитуда результирующих колебаний равна нулю, так как колебания от каждой пары соседних зон взаимно гасят друг друга.  Из этого факта вытекает: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число зон Френеля четное,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  </a:t>
            </a:r>
          </a:p>
          <a:p>
            <a:r>
              <a:rPr lang="ru-RU" dirty="0" smtClean="0"/>
              <a:t>                                                                                       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m=1,2,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этом случае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т.Р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наблюдается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дифракционный минимум.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число зон Френеля нечетное,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то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 </a:t>
            </a:r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                                       </a:t>
            </a:r>
          </a:p>
          <a:p>
            <a:endParaRPr lang="en-US" b="1" dirty="0" smtClean="0"/>
          </a:p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</a:t>
            </a:r>
            <a:br>
              <a:rPr lang="ru-RU" dirty="0" smtClean="0"/>
            </a:br>
            <a:endParaRPr lang="ru-RU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3583971" y="3503542"/>
          <a:ext cx="1786180" cy="700906"/>
        </p:xfrm>
        <a:graphic>
          <a:graphicData uri="http://schemas.openxmlformats.org/presentationml/2006/ole">
            <p:oleObj spid="_x0000_s101378" name="Формула" r:id="rId3" imgW="1002960" imgH="393480" progId="Equation.3">
              <p:embed/>
            </p:oleObj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2483768" y="4471878"/>
          <a:ext cx="2332931" cy="599331"/>
        </p:xfrm>
        <a:graphic>
          <a:graphicData uri="http://schemas.openxmlformats.org/presentationml/2006/ole">
            <p:oleObj spid="_x0000_s101379" name="Формула" r:id="rId4" imgW="1295280" imgH="393480" progId="Equation.3">
              <p:embed/>
            </p:oleObj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816699" y="4517211"/>
            <a:ext cx="1250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m=1,2,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4020" y="4886543"/>
            <a:ext cx="91299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такой ситуации наблюдается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дифракционный максимум.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Остаётся одна некомпенсированная зона Френеля.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4020" y="547073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= О щель действует как одна зона Френеля, и в этом направлении свет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распростра-няется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наибольшей интенсивностью, т.е. в точке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i="1" baseline="-25000" dirty="0" smtClean="0">
                <a:latin typeface="Times New Roman" pitchFamily="18" charset="0"/>
                <a:cs typeface="Times New Roman" pitchFamily="18" charset="0"/>
              </a:rPr>
              <a:t>о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наблюдается 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центральный дифракционный максимум.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FCE1-ADE4-4AC3-9DC6-4D81118C0EAA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956337"/>
            <a:ext cx="91440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Направления на точки экрана, в которых амплитуда (а следовательно, и интенсивность) равна нулю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 l="58407" b="5501"/>
          <a:stretch>
            <a:fillRect/>
          </a:stretch>
        </p:blipFill>
        <p:spPr bwMode="auto">
          <a:xfrm>
            <a:off x="3491880" y="1448780"/>
            <a:ext cx="1881502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 cstate="print"/>
          <a:srcRect r="44899" b="5501"/>
          <a:stretch>
            <a:fillRect/>
          </a:stretch>
        </p:blipFill>
        <p:spPr bwMode="auto">
          <a:xfrm>
            <a:off x="3298697" y="2571646"/>
            <a:ext cx="2492585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2096852"/>
            <a:ext cx="8964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Направления на точки экрана, в которых амплитуда максимальная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2008" y="3219718"/>
            <a:ext cx="88924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Распределение интенсивности на экране, получаемое вследствие дифракции представляет собой  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дифракционный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спектр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график зависимости интенсивности дифракционной картины от угла дифракции.</a:t>
            </a:r>
          </a:p>
          <a:p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243" y="4307018"/>
            <a:ext cx="5342707" cy="204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FCE1-ADE4-4AC3-9DC6-4D81118C0EAA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51111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Интенсивности в центральном и последующих максимумах относятся как 1 : 0,047 : 0,017 : 0,0083 : ..., - часть световой энергии сосредоточена в центральном максимуме.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528011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 уменьшением ширины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щели центральный максимум расширяется,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возрастают углы, которые соответствуют минимумам первого порядка, ограничивающим центральный максимум];при этом яркость его уменьшается.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382253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 увеличением ширины щели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(а &gt;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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дифракционные полосы становятся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уже и ярче, а число полос больше. </a:t>
            </a:r>
          </a:p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-При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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в центре получается резкое изображение источника света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(имеет место прямолинейное распространение света).</a:t>
            </a:r>
          </a:p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-При а =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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(что соответствует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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/2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центральный максимум расплывается в бесконечность и экран освещен равномерно.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Положение дифракционных максимумов зависит от длины волны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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поэтому рассмотренная выше дифракционная картина имеет место лишь для монохроматического света.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При освещении щели белым светом центральный максимум наблюдается в виде белой полоски. Боковые максимумы радужно окрашены, так как условие максимума при любых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различно для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разных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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права и слева от центрального максимума наблюдаются максимумы первого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(т =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1), второго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= 2) и других порядков, обращенные фиолетовым краем к центру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дифракционной картины.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</a:t>
            </a:r>
            <a:br>
              <a:rPr lang="ru-RU" dirty="0" smtClean="0"/>
            </a:br>
            <a:r>
              <a:rPr lang="ru-RU" dirty="0" smtClean="0"/>
              <a:t> </a:t>
            </a:r>
            <a:br>
              <a:rPr lang="ru-RU" dirty="0" smtClean="0"/>
            </a:br>
            <a:endParaRPr lang="ru-RU" dirty="0" smtClean="0"/>
          </a:p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FCE1-ADE4-4AC3-9DC6-4D81118C0EAA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95234" name="Picture 2" descr="https://i0.wp.com/static-interneturok.cdnvideo.ru/content/konspekt_image/74246/783ee620_1c66_0131_9208_12313d221ea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8310" y="1652777"/>
            <a:ext cx="5952819" cy="308664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FCE1-ADE4-4AC3-9DC6-4D81118C0EAA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007096" y="1014056"/>
            <a:ext cx="81369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u="sng" dirty="0" smtClean="0">
                <a:latin typeface="Times New Roman" pitchFamily="18" charset="0"/>
                <a:cs typeface="Times New Roman" pitchFamily="18" charset="0"/>
              </a:rPr>
              <a:t>Дифракция Фраунгофера</a:t>
            </a:r>
            <a:r>
              <a:rPr lang="en-US" sz="2400" b="1" i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u="sng" dirty="0" smtClean="0">
                <a:latin typeface="Times New Roman" pitchFamily="18" charset="0"/>
                <a:cs typeface="Times New Roman" pitchFamily="18" charset="0"/>
              </a:rPr>
              <a:t>на дифракционной решетке</a:t>
            </a:r>
            <a:br>
              <a:rPr lang="ru-RU" sz="2400" b="1" i="1" u="sng" dirty="0" smtClean="0">
                <a:latin typeface="Times New Roman" pitchFamily="18" charset="0"/>
                <a:cs typeface="Times New Roman" pitchFamily="18" charset="0"/>
              </a:rPr>
            </a:br>
            <a:endParaRPr lang="ru-RU" sz="2400" b="1" i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429555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Одномерная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дифракционная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решетка  представляет собой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систему параллельных щелей равной ширины, лежащих в одной плоскости и разделенных равными по ширине непрозрачными промежутками.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перейти от одной щели ко многим (к дифракционной решетке),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 дифракционные картины, создаваемые каждой щелью в отдельности, будут одинаковыми</a:t>
            </a:r>
            <a:r>
              <a:rPr lang="ru-RU" sz="2000" dirty="0" smtClean="0"/>
              <a:t>.</a:t>
            </a:r>
            <a:br>
              <a:rPr lang="ru-RU" sz="2000" dirty="0" smtClean="0"/>
            </a:br>
            <a:r>
              <a:rPr lang="ru-RU" sz="2000" dirty="0" smtClean="0"/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b="1" dirty="0" smtClean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" y="2975020"/>
            <a:ext cx="5436096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Дифракционная картина на решетке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определя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ется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как результат взаимной интерференции волн, идущих от всех щелей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дифракционной решетке осуществляется многолучевая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интерференция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когерентных дифрагированных пучков света, идущих от всех щелей.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ширина каждой щели равна </a:t>
            </a:r>
            <a:r>
              <a:rPr lang="ru-RU" sz="2000" i="1" dirty="0" err="1" smtClean="0">
                <a:latin typeface="Times New Roman" pitchFamily="18" charset="0"/>
                <a:cs typeface="Times New Roman" pitchFamily="18" charset="0"/>
              </a:rPr>
              <a:t>а=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MN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 ширина непрозрачных участков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между щелями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b=NC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 величина </a:t>
            </a:r>
            <a:r>
              <a:rPr lang="ru-RU" sz="2000" i="1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называется 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постоянной (периодом)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дифракционной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решетки.</a:t>
            </a:r>
            <a:r>
              <a:rPr lang="ru-RU" sz="2000" b="1" dirty="0" smtClean="0"/>
              <a:t/>
            </a:r>
            <a:br>
              <a:rPr lang="ru-RU" sz="2000" b="1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7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2652" y="2863346"/>
            <a:ext cx="3561347" cy="375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Стрелка вправо 7"/>
          <p:cNvSpPr/>
          <p:nvPr/>
        </p:nvSpPr>
        <p:spPr>
          <a:xfrm>
            <a:off x="3219718" y="3676324"/>
            <a:ext cx="296214" cy="2002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7182805" y="6538912"/>
            <a:ext cx="2057400" cy="365125"/>
          </a:xfrm>
        </p:spPr>
        <p:txBody>
          <a:bodyPr/>
          <a:lstStyle/>
          <a:p>
            <a:fld id="{786DFCE1-ADE4-4AC3-9DC6-4D81118C0EAA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" y="940158"/>
            <a:ext cx="913097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Плоская монохроматическая волна падает нормально к плоскости решетки. Так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щели находятся друг от друга на одинаковых расстояниях, то разности хода лучей, идущих от двух соседних щелей под углом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будут для данного направления  одинаковы в пределах всей дифракционной решетки: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                                                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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=CF=(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a+b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) sin =d sin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2432199"/>
            <a:ext cx="89644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направлениях, в которых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ни одна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 щелей не распространяет свет, он не будет распространяться и при двух щелях, т. е. </a:t>
            </a:r>
            <a:r>
              <a:rPr lang="ru-RU" b="1" i="1" u="sng" dirty="0" smtClean="0">
                <a:latin typeface="Times New Roman" pitchFamily="18" charset="0"/>
                <a:cs typeface="Times New Roman" pitchFamily="18" charset="0"/>
              </a:rPr>
              <a:t>прежние</a:t>
            </a:r>
            <a:r>
              <a:rPr lang="ru-RU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i="1" u="sng" dirty="0" smtClean="0">
                <a:latin typeface="Times New Roman" pitchFamily="18" charset="0"/>
                <a:cs typeface="Times New Roman" pitchFamily="18" charset="0"/>
              </a:rPr>
              <a:t>(главные) минимумы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интенсивности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будут наблюдаться в направлениях, определяемых условием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</a:p>
          <a:p>
            <a:r>
              <a:rPr lang="ru-RU" dirty="0" smtClean="0"/>
              <a:t>                                                                    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100581" y="3270468"/>
            <a:ext cx="15680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а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 sin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= 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m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668639" y="3270468"/>
            <a:ext cx="13612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m=1,2,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3027" y="3584257"/>
            <a:ext cx="91440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Кроме того, вследствие взаимной интерференции световых лучей, посылаемых двумя щелями, в некоторых направлениях они будут гасить друг друга, т.е.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возникнут </a:t>
            </a:r>
            <a:r>
              <a:rPr lang="ru-RU" b="1" i="1" u="sng" dirty="0" smtClean="0">
                <a:latin typeface="Times New Roman" pitchFamily="18" charset="0"/>
                <a:cs typeface="Times New Roman" pitchFamily="18" charset="0"/>
              </a:rPr>
              <a:t>дополнительные минимумы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эти дополнительные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минимумы будут наблюдаться в тех на правлениях, которым соответствует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разность хода лучей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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/2; 3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 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/2 , …,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посылаемых, например, от крайних левых точек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М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обеих щелей.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-13027" y="5029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Условие дополнительных минимумов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823471" y="5029200"/>
            <a:ext cx="23519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d sin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= 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(2m+1) /2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12733" y="5433020"/>
            <a:ext cx="88924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Действие одной щели будет усиливать действие другой, образуя условие главных максимумов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2024305" y="5863907"/>
            <a:ext cx="2534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d sin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= 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2m /2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=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m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773702" y="5029200"/>
            <a:ext cx="15536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m=0,1,2,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dirty="0" smtClean="0"/>
              <a:t>.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919282" y="5863907"/>
            <a:ext cx="15536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m=0,1,2,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4226" y="988321"/>
            <a:ext cx="88902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Полная дифракционная картина для двух щелей определяется из условий:</a:t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7478" y="1788540"/>
            <a:ext cx="35164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/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ea typeface="PMingLiU-ExtB" pitchFamily="18" charset="-120"/>
                <a:cs typeface="Times New Roman" pitchFamily="18" charset="0"/>
                <a:sym typeface="Symbol" pitchFamily="18" charset="2"/>
              </a:rPr>
              <a:t>Условие главных максимумов:</a:t>
            </a:r>
            <a:endParaRPr lang="ru-RU" sz="2000" dirty="0">
              <a:solidFill>
                <a:srgbClr val="000000"/>
              </a:solidFill>
              <a:latin typeface="Times New Roman" pitchFamily="18" charset="0"/>
              <a:ea typeface="PMingLiU-ExtB" pitchFamily="18" charset="-120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2267744" y="2376138"/>
          <a:ext cx="1728663" cy="457214"/>
        </p:xfrm>
        <a:graphic>
          <a:graphicData uri="http://schemas.openxmlformats.org/presentationml/2006/ole">
            <p:oleObj spid="_x0000_s102402" name="Формула" r:id="rId3" imgW="1536480" imgH="406080" progId="Equation.3">
              <p:embed/>
            </p:oleObj>
          </a:graphicData>
        </a:graphic>
      </p:graphicFrame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4102208" y="1881799"/>
          <a:ext cx="2727912" cy="306851"/>
        </p:xfrm>
        <a:graphic>
          <a:graphicData uri="http://schemas.openxmlformats.org/presentationml/2006/ole">
            <p:oleObj spid="_x0000_s102403" name="Формула" r:id="rId4" imgW="3619440" imgH="406080" progId="Equation.3">
              <p:embed/>
            </p:oleObj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146009" y="3013656"/>
            <a:ext cx="35259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/>
            <a:r>
              <a:rPr lang="ru-RU" sz="2000" b="1" i="1" u="sng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Условие главных минимумов</a:t>
            </a:r>
            <a:r>
              <a:rPr lang="ru-RU" b="1" i="1" u="sng" dirty="0" smtClean="0">
                <a:solidFill>
                  <a:srgbClr val="000000"/>
                </a:solidFill>
                <a:latin typeface="Tahoma" charset="0"/>
                <a:sym typeface="Symbol" pitchFamily="18" charset="2"/>
              </a:rPr>
              <a:t>:</a:t>
            </a:r>
            <a:endParaRPr lang="ru-RU" b="1" i="1" u="sng" dirty="0">
              <a:solidFill>
                <a:srgbClr val="000000"/>
              </a:solidFill>
              <a:latin typeface="Tahoma" charset="0"/>
              <a:sym typeface="Symbol" pitchFamily="18" charset="2"/>
            </a:endParaRPr>
          </a:p>
        </p:txBody>
      </p:sp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3707904" y="3017659"/>
          <a:ext cx="3277989" cy="396107"/>
        </p:xfrm>
        <a:graphic>
          <a:graphicData uri="http://schemas.openxmlformats.org/presentationml/2006/ole">
            <p:oleObj spid="_x0000_s102404" name="Формула" r:id="rId5" imgW="3365280" imgH="406080" progId="Equation.3">
              <p:embed/>
            </p:oleObj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-57861" y="3609727"/>
            <a:ext cx="46512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/>
            <a:r>
              <a:rPr lang="ru-RU" sz="2000" b="1" i="1" u="sng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Условие дополнительных минимумов:</a:t>
            </a:r>
            <a:endParaRPr lang="ru-RU" sz="2000" b="1" i="1" u="sng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4860031" y="3609727"/>
          <a:ext cx="3034717" cy="612775"/>
        </p:xfrm>
        <a:graphic>
          <a:graphicData uri="http://schemas.openxmlformats.org/presentationml/2006/ole">
            <p:oleObj spid="_x0000_s102405" name="Формула" r:id="rId6" imgW="2730240" imgH="850680" progId="Equation.3">
              <p:embed/>
            </p:oleObj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0" y="4317196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дифракционная решетка состоит из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щелей, то условием главных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минимумов  и главных максимумов остаётся как и для двух щелей, а </a:t>
            </a:r>
            <a:r>
              <a:rPr lang="ru-RU" b="1" i="1" u="sng" dirty="0" smtClean="0">
                <a:latin typeface="Times New Roman" pitchFamily="18" charset="0"/>
                <a:cs typeface="Times New Roman" pitchFamily="18" charset="0"/>
              </a:rPr>
              <a:t>условием дополнительных минимумов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будет выражение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6262" name="Object 6"/>
          <p:cNvGraphicFramePr>
            <a:graphicFrameLocks noChangeAspect="1"/>
          </p:cNvGraphicFramePr>
          <p:nvPr/>
        </p:nvGraphicFramePr>
        <p:xfrm>
          <a:off x="4921908" y="5028204"/>
          <a:ext cx="3593442" cy="521441"/>
        </p:xfrm>
        <a:graphic>
          <a:graphicData uri="http://schemas.openxmlformats.org/presentationml/2006/ole">
            <p:oleObj spid="_x0000_s102406" name="Формула" r:id="rId7" imgW="5740200" imgH="736560" progId="Equation.3">
              <p:embed/>
            </p:oleObj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0" y="5549645"/>
            <a:ext cx="8964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Если решетка состоит из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щелей, то между двумя главными максимумами располагается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N-1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дополнительных минимумов и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N-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 дополнительных максимумов, создающих слабый фон.</a:t>
            </a:r>
            <a:endParaRPr lang="ru-RU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FCE1-ADE4-4AC3-9DC6-4D81118C0EAA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0" y="1261055"/>
            <a:ext cx="89644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Чем больше щелей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N,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тем большее количество световой энергии пройдет через решетку, тем больше минимумов образуется между соседними главными максимумами, а следовательно, более интенсивными и более острыми будут максимумы.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4" name="Picture 2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3948" y="2126534"/>
            <a:ext cx="74009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35496" y="5147900"/>
            <a:ext cx="35869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/>
            <a:r>
              <a:rPr lang="ru-RU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Число главных</a:t>
            </a: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максимумов: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3308235" y="4935071"/>
          <a:ext cx="1093580" cy="720080"/>
        </p:xfrm>
        <a:graphic>
          <a:graphicData uri="http://schemas.openxmlformats.org/presentationml/2006/ole">
            <p:oleObj spid="_x0000_s103426" name="Формула" r:id="rId4" imgW="1295280" imgH="850680" progId="Equation.3">
              <p:embed/>
            </p:oleObj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35496" y="5655151"/>
            <a:ext cx="31034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ru-RU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Общее число максимумов:</a:t>
            </a:r>
            <a:endParaRPr lang="ru-RU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3138911" y="5773137"/>
          <a:ext cx="1262904" cy="282124"/>
        </p:xfrm>
        <a:graphic>
          <a:graphicData uri="http://schemas.openxmlformats.org/presentationml/2006/ole">
            <p:oleObj spid="_x0000_s103427" name="Формула" r:id="rId5" imgW="1650960" imgH="36828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1456" y="5116542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Амплитуда главного максимума  А=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7968" y="5403805"/>
            <a:ext cx="4139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Интенсивность главного максимума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Picture 3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88533" y="5773137"/>
            <a:ext cx="1407881" cy="432048"/>
          </a:xfrm>
          <a:prstGeom prst="rect">
            <a:avLst/>
          </a:prstGeom>
          <a:noFill/>
          <a:ln w="63500">
            <a:solidFill>
              <a:srgbClr val="0000FF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97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940158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При пропускании через решетку белого света все максимумы, кроме центрального (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= 0), разложатся в спектр, фиолетовая область которого будет обращена к центру дифракционной картины, красная — наружу. Это свойство дифракционной решетки используется для исследования спектрального состава света (определения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длин волн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интенсивиостей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всех монохроматических компонентов), т.е.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дифракционная решетка может быть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использована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как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спектральный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прибор,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предназначенный для разложения света в спектр и измерения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853504"/>
            <a:ext cx="7400925" cy="234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682" y="5194949"/>
            <a:ext cx="37433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Group 32"/>
          <p:cNvGrpSpPr>
            <a:grpSpLocks noChangeAspect="1"/>
          </p:cNvGrpSpPr>
          <p:nvPr/>
        </p:nvGrpSpPr>
        <p:grpSpPr bwMode="auto">
          <a:xfrm flipH="1">
            <a:off x="2537108" y="6052199"/>
            <a:ext cx="1392237" cy="417512"/>
            <a:chOff x="3379" y="3792"/>
            <a:chExt cx="363" cy="137"/>
          </a:xfrm>
        </p:grpSpPr>
        <p:sp>
          <p:nvSpPr>
            <p:cNvPr id="7" name="Rectangle 33"/>
            <p:cNvSpPr>
              <a:spLocks noChangeAspect="1" noChangeArrowheads="1"/>
            </p:cNvSpPr>
            <p:nvPr/>
          </p:nvSpPr>
          <p:spPr bwMode="auto">
            <a:xfrm flipH="1">
              <a:off x="3379" y="3793"/>
              <a:ext cx="91" cy="136"/>
            </a:xfrm>
            <a:prstGeom prst="rect">
              <a:avLst/>
            </a:prstGeom>
            <a:solidFill>
              <a:srgbClr val="8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8" name="Rectangle 34"/>
            <p:cNvSpPr>
              <a:spLocks noChangeAspect="1" noChangeArrowheads="1"/>
            </p:cNvSpPr>
            <p:nvPr/>
          </p:nvSpPr>
          <p:spPr bwMode="auto">
            <a:xfrm flipH="1">
              <a:off x="3469" y="3792"/>
              <a:ext cx="91" cy="136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9" name="Rectangle 35"/>
            <p:cNvSpPr>
              <a:spLocks noChangeAspect="1" noChangeArrowheads="1"/>
            </p:cNvSpPr>
            <p:nvPr/>
          </p:nvSpPr>
          <p:spPr bwMode="auto">
            <a:xfrm flipH="1">
              <a:off x="3560" y="3793"/>
              <a:ext cx="91" cy="13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0" name="Rectangle 36"/>
            <p:cNvSpPr>
              <a:spLocks noChangeAspect="1" noChangeArrowheads="1"/>
            </p:cNvSpPr>
            <p:nvPr/>
          </p:nvSpPr>
          <p:spPr bwMode="auto">
            <a:xfrm flipH="1">
              <a:off x="3651" y="3793"/>
              <a:ext cx="91" cy="136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</p:grpSp>
      <p:grpSp>
        <p:nvGrpSpPr>
          <p:cNvPr id="11" name="Group 23"/>
          <p:cNvGrpSpPr>
            <a:grpSpLocks noChangeAspect="1"/>
          </p:cNvGrpSpPr>
          <p:nvPr/>
        </p:nvGrpSpPr>
        <p:grpSpPr bwMode="auto">
          <a:xfrm>
            <a:off x="4638254" y="6049150"/>
            <a:ext cx="1392238" cy="417513"/>
            <a:chOff x="3379" y="3792"/>
            <a:chExt cx="363" cy="137"/>
          </a:xfrm>
        </p:grpSpPr>
        <p:sp>
          <p:nvSpPr>
            <p:cNvPr id="12" name="Rectangle 24"/>
            <p:cNvSpPr>
              <a:spLocks noChangeAspect="1" noChangeArrowheads="1"/>
            </p:cNvSpPr>
            <p:nvPr/>
          </p:nvSpPr>
          <p:spPr bwMode="auto">
            <a:xfrm flipH="1">
              <a:off x="3379" y="3793"/>
              <a:ext cx="91" cy="136"/>
            </a:xfrm>
            <a:prstGeom prst="rect">
              <a:avLst/>
            </a:prstGeom>
            <a:solidFill>
              <a:srgbClr val="8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3" name="Rectangle 25"/>
            <p:cNvSpPr>
              <a:spLocks noChangeAspect="1" noChangeArrowheads="1"/>
            </p:cNvSpPr>
            <p:nvPr/>
          </p:nvSpPr>
          <p:spPr bwMode="auto">
            <a:xfrm flipH="1">
              <a:off x="3469" y="3792"/>
              <a:ext cx="91" cy="136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" name="Rectangle 26"/>
            <p:cNvSpPr>
              <a:spLocks noChangeAspect="1" noChangeArrowheads="1"/>
            </p:cNvSpPr>
            <p:nvPr/>
          </p:nvSpPr>
          <p:spPr bwMode="auto">
            <a:xfrm flipH="1">
              <a:off x="3560" y="3793"/>
              <a:ext cx="91" cy="136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5" name="Rectangle 27"/>
            <p:cNvSpPr>
              <a:spLocks noChangeAspect="1" noChangeArrowheads="1"/>
            </p:cNvSpPr>
            <p:nvPr/>
          </p:nvSpPr>
          <p:spPr bwMode="auto">
            <a:xfrm flipH="1">
              <a:off x="3651" y="3793"/>
              <a:ext cx="91" cy="136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ChangeArrowheads="1"/>
          </p:cNvSpPr>
          <p:nvPr/>
        </p:nvSpPr>
        <p:spPr bwMode="auto">
          <a:xfrm>
            <a:off x="-23812" y="1079500"/>
            <a:ext cx="8759825" cy="1166813"/>
          </a:xfrm>
          <a:prstGeom prst="rect">
            <a:avLst/>
          </a:prstGeom>
          <a:solidFill>
            <a:srgbClr val="33CCCC">
              <a:alpha val="50000"/>
            </a:srgbClr>
          </a:solidFill>
          <a:ln w="9525">
            <a:solidFill>
              <a:srgbClr val="008080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5000"/>
              </a:spcBef>
              <a:spcAft>
                <a:spcPct val="20000"/>
              </a:spcAft>
            </a:pPr>
            <a:r>
              <a:rPr lang="ru-RU" sz="36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Разрешающая способность спектрального прибора.</a:t>
            </a:r>
            <a:endParaRPr lang="en-US" sz="36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3812" y="2246313"/>
            <a:ext cx="89630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2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71850" y="2860675"/>
            <a:ext cx="57721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2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76600" y="3719513"/>
            <a:ext cx="57816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25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00425" y="4587875"/>
            <a:ext cx="574357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25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725" y="2798763"/>
            <a:ext cx="319087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925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5294313"/>
            <a:ext cx="903922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09257" name="Object 9"/>
          <p:cNvGraphicFramePr>
            <a:graphicFrameLocks noChangeAspect="1"/>
          </p:cNvGraphicFramePr>
          <p:nvPr/>
        </p:nvGraphicFramePr>
        <p:xfrm>
          <a:off x="7013441" y="5666704"/>
          <a:ext cx="1925772" cy="800188"/>
        </p:xfrm>
        <a:graphic>
          <a:graphicData uri="http://schemas.openxmlformats.org/presentationml/2006/ole">
            <p:oleObj spid="_x0000_s104450" name="Формула" r:id="rId9" imgW="2234880" imgH="927000" progId="Equation.3">
              <p:embed/>
            </p:oleObj>
          </a:graphicData>
        </a:graphic>
      </p:graphicFrame>
      <p:sp>
        <p:nvSpPr>
          <p:cNvPr id="309258" name="Rectangle 10"/>
          <p:cNvSpPr>
            <a:spLocks noChangeArrowheads="1"/>
          </p:cNvSpPr>
          <p:nvPr/>
        </p:nvSpPr>
        <p:spPr bwMode="auto">
          <a:xfrm>
            <a:off x="4597759" y="5666704"/>
            <a:ext cx="2279560" cy="800188"/>
          </a:xfrm>
          <a:prstGeom prst="rect">
            <a:avLst/>
          </a:prstGeom>
          <a:solidFill>
            <a:srgbClr val="00FF00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SzPct val="65000"/>
            </a:pPr>
            <a:r>
              <a:rPr lang="ru-RU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Разрешающая  сила объектива </a:t>
            </a:r>
            <a:endParaRPr lang="ru-RU" sz="2000" b="0" dirty="0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 tmFilter="0,0; .5, 1; 1, 1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 tmFilter="0,0; .5, 1; 1, 1"/>
                                        <p:tgtEl>
                                          <p:spTgt spid="30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 decel="100000"/>
                                        <p:tgtEl>
                                          <p:spTgt spid="309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9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 animBg="1"/>
      <p:bldP spid="30925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6476" y="1239361"/>
            <a:ext cx="1075666" cy="908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02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61002" y="1658936"/>
            <a:ext cx="48387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02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26217" y="2058986"/>
            <a:ext cx="8964613" cy="566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027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9763" y="2966094"/>
            <a:ext cx="25050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028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089652" y="2966094"/>
            <a:ext cx="358140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0281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45466" y="3458693"/>
            <a:ext cx="1790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0282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80943" y="3953993"/>
            <a:ext cx="1866900" cy="79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0283" name="Picture 1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57625" y="3962401"/>
            <a:ext cx="1854200" cy="626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0284" name="Picture 1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047843" y="4744680"/>
            <a:ext cx="2311904" cy="696443"/>
          </a:xfrm>
          <a:prstGeom prst="rect">
            <a:avLst/>
          </a:prstGeom>
          <a:noFill/>
          <a:ln w="6350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310285" name="Picture 13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92065" y="5676900"/>
            <a:ext cx="88201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0286" name="Rectangle 14"/>
          <p:cNvSpPr>
            <a:spLocks noChangeArrowheads="1"/>
          </p:cNvSpPr>
          <p:nvPr/>
        </p:nvSpPr>
        <p:spPr bwMode="auto">
          <a:xfrm>
            <a:off x="192065" y="3458693"/>
            <a:ext cx="2855778" cy="402107"/>
          </a:xfrm>
          <a:prstGeom prst="rect">
            <a:avLst/>
          </a:prstGeom>
          <a:solidFill>
            <a:srgbClr val="00FF00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SzPct val="65000"/>
            </a:pP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 критерию Рэлея :</a:t>
            </a:r>
            <a:endParaRPr lang="ru-RU" sz="2400" b="0" dirty="0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364" y="862437"/>
            <a:ext cx="9037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 smtClean="0">
                <a:latin typeface="Times New Roman" pitchFamily="18" charset="0"/>
                <a:cs typeface="Times New Roman" pitchFamily="18" charset="0"/>
              </a:rPr>
              <a:t>Разрешающей способностью спектрального прибора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называется величина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065" y="2504429"/>
            <a:ext cx="8528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u="sng" dirty="0" smtClean="0">
                <a:latin typeface="Times New Roman" pitchFamily="18" charset="0"/>
                <a:cs typeface="Times New Roman" pitchFamily="18" charset="0"/>
              </a:rPr>
              <a:t>Разрешающая способность дифракционной решётки</a:t>
            </a:r>
            <a:endParaRPr lang="ru-RU" sz="2400" b="1" i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500"/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folHlink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rgbClr val="FFCC00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500"/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500"/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8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ChangeArrowheads="1"/>
          </p:cNvSpPr>
          <p:nvPr/>
        </p:nvSpPr>
        <p:spPr bwMode="auto">
          <a:xfrm>
            <a:off x="107950" y="1143000"/>
            <a:ext cx="8498849" cy="12255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buSzPct val="65000"/>
            </a:pP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</a:t>
            </a:r>
            <a:r>
              <a:rPr lang="ru-RU" sz="240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Угловая </a:t>
            </a:r>
            <a:r>
              <a:rPr lang="ru-RU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дисперсия</a:t>
            </a:r>
            <a:r>
              <a:rPr lang="ru-RU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b="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</a:t>
            </a:r>
            <a:r>
              <a:rPr lang="en-US" sz="2400" b="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y</a:t>
            </a:r>
            <a:r>
              <a:rPr lang="ru-RU" sz="2400" b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 </a:t>
            </a:r>
            <a:r>
              <a:rPr lang="ru-RU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угловое расстояние между </a:t>
            </a:r>
            <a:r>
              <a:rPr lang="ru-RU" sz="2400" b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двумя</a:t>
            </a:r>
            <a:r>
              <a:rPr lang="en-US" sz="2400" b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400" b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спектральными </a:t>
            </a:r>
            <a:r>
              <a:rPr lang="ru-RU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линиями, различающимися по длине волны на единицу (например 0,1 нм).</a:t>
            </a:r>
          </a:p>
        </p:txBody>
      </p:sp>
      <p:graphicFrame>
        <p:nvGraphicFramePr>
          <p:cNvPr id="311299" name="Object 3"/>
          <p:cNvGraphicFramePr>
            <a:graphicFrameLocks noChangeAspect="1"/>
          </p:cNvGraphicFramePr>
          <p:nvPr/>
        </p:nvGraphicFramePr>
        <p:xfrm>
          <a:off x="821629" y="2368550"/>
          <a:ext cx="1244536" cy="811605"/>
        </p:xfrm>
        <a:graphic>
          <a:graphicData uri="http://schemas.openxmlformats.org/presentationml/2006/ole">
            <p:oleObj spid="_x0000_s105474" name="Формула" r:id="rId4" imgW="1307880" imgH="850680" progId="Equation.3">
              <p:embed/>
            </p:oleObj>
          </a:graphicData>
        </a:graphic>
      </p:graphicFrame>
      <p:graphicFrame>
        <p:nvGraphicFramePr>
          <p:cNvPr id="311300" name="Object 4"/>
          <p:cNvGraphicFramePr>
            <a:graphicFrameLocks noChangeAspect="1"/>
          </p:cNvGraphicFramePr>
          <p:nvPr/>
        </p:nvGraphicFramePr>
        <p:xfrm>
          <a:off x="4597267" y="2368550"/>
          <a:ext cx="2563388" cy="910340"/>
        </p:xfrm>
        <a:graphic>
          <a:graphicData uri="http://schemas.openxmlformats.org/presentationml/2006/ole">
            <p:oleObj spid="_x0000_s105475" name="Формула" r:id="rId5" imgW="2616120" imgH="927000" progId="Equation.3">
              <p:embed/>
            </p:oleObj>
          </a:graphicData>
        </a:graphic>
      </p:graphicFrame>
      <p:graphicFrame>
        <p:nvGraphicFramePr>
          <p:cNvPr id="311301" name="Object 5"/>
          <p:cNvGraphicFramePr>
            <a:graphicFrameLocks noChangeAspect="1"/>
          </p:cNvGraphicFramePr>
          <p:nvPr/>
        </p:nvGraphicFramePr>
        <p:xfrm>
          <a:off x="2248040" y="2541131"/>
          <a:ext cx="1954370" cy="462387"/>
        </p:xfrm>
        <a:graphic>
          <a:graphicData uri="http://schemas.openxmlformats.org/presentationml/2006/ole">
            <p:oleObj spid="_x0000_s105476" name="Формула" r:id="rId6" imgW="1777680" imgH="419040" progId="Equation.3">
              <p:embed/>
            </p:oleObj>
          </a:graphicData>
        </a:graphic>
      </p:graphicFrame>
      <p:graphicFrame>
        <p:nvGraphicFramePr>
          <p:cNvPr id="311302" name="Object 6"/>
          <p:cNvGraphicFramePr>
            <a:graphicFrameLocks noChangeAspect="1"/>
          </p:cNvGraphicFramePr>
          <p:nvPr/>
        </p:nvGraphicFramePr>
        <p:xfrm>
          <a:off x="180975" y="3278890"/>
          <a:ext cx="3822570" cy="709764"/>
        </p:xfrm>
        <a:graphic>
          <a:graphicData uri="http://schemas.openxmlformats.org/presentationml/2006/ole">
            <p:oleObj spid="_x0000_s105477" name="Формула" r:id="rId7" imgW="4114800" imgH="761760" progId="Equation.3">
              <p:embed/>
            </p:oleObj>
          </a:graphicData>
        </a:graphic>
      </p:graphicFrame>
      <p:sp>
        <p:nvSpPr>
          <p:cNvPr id="311303" name="Rectangle 7"/>
          <p:cNvSpPr>
            <a:spLocks noChangeArrowheads="1"/>
          </p:cNvSpPr>
          <p:nvPr/>
        </p:nvSpPr>
        <p:spPr bwMode="auto">
          <a:xfrm>
            <a:off x="107950" y="4042611"/>
            <a:ext cx="8893175" cy="136842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buSzPct val="65000"/>
            </a:pPr>
            <a:r>
              <a:rPr lang="ru-RU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Линейная дисперсия</a:t>
            </a:r>
            <a:r>
              <a:rPr lang="ru-RU" sz="2400" b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–расстояние между двумя спектральными линиями, различающимися по длине волны на единицу (например 0,1 нм).</a:t>
            </a:r>
          </a:p>
        </p:txBody>
      </p:sp>
      <p:graphicFrame>
        <p:nvGraphicFramePr>
          <p:cNvPr id="311304" name="Object 8"/>
          <p:cNvGraphicFramePr>
            <a:graphicFrameLocks noChangeAspect="1"/>
          </p:cNvGraphicFramePr>
          <p:nvPr/>
        </p:nvGraphicFramePr>
        <p:xfrm>
          <a:off x="1616579" y="5329583"/>
          <a:ext cx="1262922" cy="831906"/>
        </p:xfrm>
        <a:graphic>
          <a:graphicData uri="http://schemas.openxmlformats.org/presentationml/2006/ole">
            <p:oleObj spid="_x0000_s105478" name="Формула" r:id="rId8" imgW="1295280" imgH="850680" progId="Equation.3">
              <p:embed/>
            </p:oleObj>
          </a:graphicData>
        </a:graphic>
      </p:graphicFrame>
      <p:graphicFrame>
        <p:nvGraphicFramePr>
          <p:cNvPr id="311305" name="Object 9"/>
          <p:cNvGraphicFramePr>
            <a:graphicFrameLocks noChangeAspect="1"/>
          </p:cNvGraphicFramePr>
          <p:nvPr/>
        </p:nvGraphicFramePr>
        <p:xfrm>
          <a:off x="3312074" y="5329583"/>
          <a:ext cx="2129217" cy="677950"/>
        </p:xfrm>
        <a:graphic>
          <a:graphicData uri="http://schemas.openxmlformats.org/presentationml/2006/ole">
            <p:oleObj spid="_x0000_s105479" name="Формула" r:id="rId9" imgW="2679480" imgH="850680" progId="Equation.3">
              <p:embed/>
            </p:oleObj>
          </a:graphicData>
        </a:graphic>
      </p:graphicFrame>
      <p:graphicFrame>
        <p:nvGraphicFramePr>
          <p:cNvPr id="311306" name="Object 10"/>
          <p:cNvGraphicFramePr>
            <a:graphicFrameLocks noChangeAspect="1"/>
          </p:cNvGraphicFramePr>
          <p:nvPr/>
        </p:nvGraphicFramePr>
        <p:xfrm>
          <a:off x="6220326" y="5320633"/>
          <a:ext cx="1335581" cy="686900"/>
        </p:xfrm>
        <a:graphic>
          <a:graphicData uri="http://schemas.openxmlformats.org/presentationml/2006/ole">
            <p:oleObj spid="_x0000_s105480" name="Формула" r:id="rId10" imgW="1536480" imgH="7873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3113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11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animBg="1"/>
      <p:bldP spid="31130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Заголовок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u-RU" smtClean="0"/>
              <a:t>Спасибо за внимание!</a:t>
            </a:r>
          </a:p>
        </p:txBody>
      </p:sp>
      <p:sp>
        <p:nvSpPr>
          <p:cNvPr id="30723" name="Номер слайда 2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5E3D7C-504E-4FC7-9382-524D16877643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4329</TotalTime>
  <Words>1622</Words>
  <Application>Microsoft Office PowerPoint</Application>
  <PresentationFormat>Экран (4:3)</PresentationFormat>
  <Paragraphs>136</Paragraphs>
  <Slides>27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9" baseType="lpstr">
      <vt:lpstr>Специальное оформление</vt:lpstr>
      <vt:lpstr>Формула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1</cp:lastModifiedBy>
  <cp:revision>237</cp:revision>
  <dcterms:created xsi:type="dcterms:W3CDTF">2015-07-29T11:14:37Z</dcterms:created>
  <dcterms:modified xsi:type="dcterms:W3CDTF">2022-04-28T17:39:56Z</dcterms:modified>
</cp:coreProperties>
</file>