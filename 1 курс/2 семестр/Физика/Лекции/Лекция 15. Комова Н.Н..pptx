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30"/>
  </p:notesMasterIdLst>
  <p:sldIdLst>
    <p:sldId id="360" r:id="rId2"/>
    <p:sldId id="394" r:id="rId3"/>
    <p:sldId id="395" r:id="rId4"/>
    <p:sldId id="398" r:id="rId5"/>
    <p:sldId id="401" r:id="rId6"/>
    <p:sldId id="402" r:id="rId7"/>
    <p:sldId id="403" r:id="rId8"/>
    <p:sldId id="404" r:id="rId9"/>
    <p:sldId id="405" r:id="rId10"/>
    <p:sldId id="396" r:id="rId11"/>
    <p:sldId id="400" r:id="rId12"/>
    <p:sldId id="409" r:id="rId13"/>
    <p:sldId id="406" r:id="rId14"/>
    <p:sldId id="407" r:id="rId15"/>
    <p:sldId id="408" r:id="rId16"/>
    <p:sldId id="411" r:id="rId17"/>
    <p:sldId id="412" r:id="rId18"/>
    <p:sldId id="410" r:id="rId19"/>
    <p:sldId id="413" r:id="rId20"/>
    <p:sldId id="415" r:id="rId21"/>
    <p:sldId id="416" r:id="rId22"/>
    <p:sldId id="417" r:id="rId23"/>
    <p:sldId id="418" r:id="rId24"/>
    <p:sldId id="419" r:id="rId25"/>
    <p:sldId id="420" r:id="rId26"/>
    <p:sldId id="421" r:id="rId27"/>
    <p:sldId id="422" r:id="rId28"/>
    <p:sldId id="264" r:id="rId29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C82C1"/>
    <a:srgbClr val="295CA8"/>
    <a:srgbClr val="C60A5B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599" autoAdjust="0"/>
  </p:normalViewPr>
  <p:slideViewPr>
    <p:cSldViewPr snapToGrid="0" snapToObjects="1">
      <p:cViewPr varScale="1">
        <p:scale>
          <a:sx n="80" d="100"/>
          <a:sy n="80" d="100"/>
        </p:scale>
        <p:origin x="-54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C7A84EB-6F39-45B8-B33B-CDA977B31386}" type="datetimeFigureOut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EB2C2F7-9814-464F-9B1E-308ECAD674B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ru-RU" altLang="ru-RU" smtClean="0"/>
          </a:p>
        </p:txBody>
      </p:sp>
      <p:sp>
        <p:nvSpPr>
          <p:cNvPr id="368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6D2C83F-8EB3-4E58-9B97-C1179EB2A913}" type="slidenum">
              <a:rPr lang="ru-RU" altLang="ru-RU" smtClean="0"/>
              <a:pPr/>
              <a:t>1</a:t>
            </a:fld>
            <a:endParaRPr lang="ru-RU" alt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altLang="ru-RU" smtClean="0"/>
          </a:p>
        </p:txBody>
      </p:sp>
      <p:sp>
        <p:nvSpPr>
          <p:cNvPr id="378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F0EC76B-B162-403C-A9E6-0F64D0FC9723}" type="slidenum">
              <a:rPr lang="ru-RU" altLang="ru-RU" smtClean="0"/>
              <a:pPr/>
              <a:t>14</a:t>
            </a:fld>
            <a:endParaRPr lang="ru-RU" alt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709D1A4-A608-4E98-9BC3-24D90544CF2A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D3149CA4-CC14-479A-89EE-B5701AE75E6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27B00C2-F0CE-40A8-A8CE-F5F7B375E35B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C24921C9-6B46-4409-818E-95EB816E71D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BA2C878-8E71-4B55-861F-112B215073AB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C37CBB4F-270A-4869-B051-5EC98B2CB5D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134E47C-0436-45FF-84EC-27AE0859983A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BB7173E1-905A-4676-A133-07E5D15E119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755CBA7-0C68-46A5-88D2-47047218EE10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2DB99260-792A-4ABF-9310-3B1C7379A94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04149E0-2F00-4355-A908-2CC2571543F8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30C88061-FA7F-497B-B1A5-205EB36E9A2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2DE8BFC-FE98-46C5-AAB6-5DBCED4A4459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5037070F-C187-4E84-9F83-B65344905F9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82B157B-3F0A-4B39-9B51-1F7EC4BAA465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6279A594-2406-408E-9E42-9AC2A2CDF0D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F7839AB-29EA-4E81-8304-1454578ABDA8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F9C7A6D0-F0B2-45A5-882F-3321A94912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24C80CF-412D-4F5B-B415-708409781B1B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AA6F3EB7-F529-4438-A67F-2BDF085BDD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DC6DA0A-4561-47BF-8187-D8C521A170D6}" type="datetime1">
              <a:rPr lang="ru-RU"/>
              <a:pPr>
                <a:defRPr/>
              </a:pPr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DBB8F64D-F84A-4936-8FA2-9AEEE4C1749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OverTx">
  <p:cSld name="Заголовок и два объекта над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5B4DC0-9B0B-446E-9E1A-9180431F17DA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head.png"/>
          <p:cNvPicPr>
            <a:picLocks noChangeAspect="1"/>
          </p:cNvPicPr>
          <p:nvPr/>
        </p:nvPicPr>
        <p:blipFill>
          <a:blip r:embed="rId14">
            <a:duotone>
              <a:schemeClr val="bg2">
                <a:shade val="45000"/>
                <a:satMod val="135000"/>
              </a:schemeClr>
              <a:prstClr val="white"/>
            </a:duotone>
            <a:extLst/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027" name="Прямоугольник 8"/>
          <p:cNvSpPr>
            <a:spLocks noChangeArrowheads="1"/>
          </p:cNvSpPr>
          <p:nvPr/>
        </p:nvSpPr>
        <p:spPr bwMode="auto">
          <a:xfrm>
            <a:off x="5545138" y="-44450"/>
            <a:ext cx="35988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ru-RU" sz="1600" b="1">
                <a:solidFill>
                  <a:srgbClr val="00B0F0"/>
                </a:solidFill>
                <a:latin typeface="PT Sans"/>
              </a:rPr>
              <a:t>Центр дистанционного обучения </a:t>
            </a:r>
          </a:p>
        </p:txBody>
      </p:sp>
      <p:sp>
        <p:nvSpPr>
          <p:cNvPr id="1028" name="TextBox 9"/>
          <p:cNvSpPr txBox="1">
            <a:spLocks noChangeArrowheads="1"/>
          </p:cNvSpPr>
          <p:nvPr/>
        </p:nvSpPr>
        <p:spPr bwMode="auto">
          <a:xfrm>
            <a:off x="7524750" y="6418263"/>
            <a:ext cx="147478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5125" name="Рисунок 3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0" y="0"/>
            <a:ext cx="1501775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504825" y="2016125"/>
            <a:ext cx="8388350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0" hangingPunct="0"/>
            <a:endParaRPr lang="ru-RU" altLang="ru-RU" sz="240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ctr" eaLnBrk="0" hangingPunct="0"/>
            <a:endParaRPr lang="ru-RU" altLang="ru-RU" sz="240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algn="ctr" eaLnBrk="0" hangingPunct="0"/>
            <a:r>
              <a:rPr lang="ru-RU" altLang="ru-RU" sz="2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МИНИСТЕРСТВО НАУКИ И ВЫСШЕГО ОБРАЗОВАНИЯ РОССИЙСКОЙ ФЕДЕРАЦИИ</a:t>
            </a:r>
          </a:p>
          <a:p>
            <a:pPr algn="ctr" eaLnBrk="0" hangingPunct="0"/>
            <a:r>
              <a:rPr lang="ru-RU" altLang="ru-RU" sz="2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МИРЭА – РОССИЙСКИЙ ТЕХНОЛОГИЧЕСКИЙ УНИВЕРСИТЕТ</a:t>
            </a:r>
          </a:p>
        </p:txBody>
      </p:sp>
      <p:pic>
        <p:nvPicPr>
          <p:cNvPr id="18435" name="Picture 3" descr="https://www.mirea.ru/upload/medialibrary/80f/MIREA_Gerb_Colour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7925" y="874713"/>
            <a:ext cx="15843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522288" y="3771900"/>
            <a:ext cx="79930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Институт тонких химических технологий</a:t>
            </a:r>
          </a:p>
          <a:p>
            <a:pPr algn="ctr"/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 Кафедра физики и технической механики </a:t>
            </a:r>
          </a:p>
        </p:txBody>
      </p:sp>
      <p:sp>
        <p:nvSpPr>
          <p:cNvPr id="18437" name="TextBox 6"/>
          <p:cNvSpPr txBox="1">
            <a:spLocks noChangeArrowheads="1"/>
          </p:cNvSpPr>
          <p:nvPr/>
        </p:nvSpPr>
        <p:spPr bwMode="auto">
          <a:xfrm>
            <a:off x="244475" y="4418013"/>
            <a:ext cx="86487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Лекция №15</a:t>
            </a:r>
          </a:p>
          <a:p>
            <a:pPr algn="ctr"/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Электростатические явления в веществе.</a:t>
            </a:r>
            <a:endParaRPr lang="en-US" altLang="ru-RU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5508625" y="5957888"/>
            <a:ext cx="33845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/>
              <a:t>Лектор: доцент Комова Н.Н.</a:t>
            </a:r>
          </a:p>
        </p:txBody>
      </p:sp>
      <p:sp>
        <p:nvSpPr>
          <p:cNvPr id="18439" name="Номер слайда 9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1EF68BC-5A6C-4B30-9D53-C32CAAF35CD2}" type="slidenum">
              <a:rPr lang="ru-RU" altLang="ru-RU" smtClean="0"/>
              <a:pPr/>
              <a:t>1</a:t>
            </a:fld>
            <a:endParaRPr lang="ru-RU" altLang="ru-RU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0"/>
            <a:ext cx="9144000" cy="47148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buFontTx/>
              <a:buNone/>
            </a:pPr>
            <a:r>
              <a:rPr lang="ru-RU" altLang="ru-RU" b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b="1" smtClean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b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b="1" smtClean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b="1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b="1" smtClean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b="1" smtClean="0">
                <a:latin typeface="Times New Roman" pitchFamily="18" charset="0"/>
                <a:cs typeface="Times New Roman" pitchFamily="18" charset="0"/>
              </a:rPr>
              <a:t>ЭЛЕКТРОСТАТИЧЕСКИЕ ЯВЛЕНИЯ В ВЕЩЕСТВЕ</a:t>
            </a:r>
            <a:endParaRPr lang="ru-RU" altLang="ru-RU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59" name="Прямоугольник 2"/>
          <p:cNvSpPr>
            <a:spLocks noChangeArrowheads="1"/>
          </p:cNvSpPr>
          <p:nvPr/>
        </p:nvSpPr>
        <p:spPr bwMode="auto">
          <a:xfrm>
            <a:off x="555625" y="2176463"/>
            <a:ext cx="85883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Свободные и связанные заряды.</a:t>
            </a:r>
          </a:p>
          <a:p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 Электрический диполь. </a:t>
            </a:r>
          </a:p>
          <a:p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Поляризация вещества. </a:t>
            </a:r>
          </a:p>
          <a:p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Диэлектрики. </a:t>
            </a:r>
          </a:p>
          <a:p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Диэлектрическая проницаемость и восприимчивость. </a:t>
            </a:r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Вектор электрического смещения </a:t>
            </a:r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D</a:t>
            </a:r>
            <a:endParaRPr lang="ru-RU" altLang="ru-RU" sz="2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0" name="Прямоугольник 3"/>
          <p:cNvSpPr>
            <a:spLocks noChangeArrowheads="1"/>
          </p:cNvSpPr>
          <p:nvPr/>
        </p:nvSpPr>
        <p:spPr bwMode="auto">
          <a:xfrm>
            <a:off x="555625" y="4852988"/>
            <a:ext cx="858837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800" b="1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Теорема Гаусса для электростатического</a:t>
            </a:r>
            <a:r>
              <a:rPr lang="en-US" altLang="ru-RU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800">
                <a:latin typeface="Times New Roman" pitchFamily="18" charset="0"/>
                <a:cs typeface="Times New Roman" pitchFamily="18" charset="0"/>
              </a:rPr>
              <a:t>поля в диэлектрике</a:t>
            </a:r>
            <a:endParaRPr lang="ru-RU" altLang="ru-RU" sz="2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36ECAB-C94A-4B08-AD49-6D14F13667A0}" type="slidenum">
              <a:rPr lang="ru-RU" altLang="ru-RU" smtClean="0"/>
              <a:pPr/>
              <a:t>3</a:t>
            </a:fld>
            <a:endParaRPr lang="ru-RU" altLang="ru-RU" smtClean="0"/>
          </a:p>
        </p:txBody>
      </p:sp>
      <p:pic>
        <p:nvPicPr>
          <p:cNvPr id="20483" name="Picture 2" descr="https://i2.wp.com/elquanta.ru/wp-content/uploads/2018/03/3-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0238" y="1046163"/>
            <a:ext cx="5508625" cy="413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Номер слайда 1"/>
          <p:cNvSpPr>
            <a:spLocks noGrp="1"/>
          </p:cNvSpPr>
          <p:nvPr>
            <p:ph type="sldNum" sz="quarter" idx="12"/>
          </p:nvPr>
        </p:nvSpPr>
        <p:spPr bwMode="auto">
          <a:xfrm>
            <a:off x="7086600" y="6359525"/>
            <a:ext cx="20574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92268815-8B18-47F0-96D4-58DC8B117DE4}" type="slidenum">
              <a:rPr lang="ru-RU" altLang="ru-RU" smtClean="0"/>
              <a:pPr/>
              <a:t>4</a:t>
            </a:fld>
            <a:endParaRPr lang="ru-RU" altLang="ru-RU" smtClean="0"/>
          </a:p>
        </p:txBody>
      </p:sp>
      <p:pic>
        <p:nvPicPr>
          <p:cNvPr id="21507" name="Picture 6" descr="https://myslide.ru/documents_3/433ff466e72244b849e9654d011bf967/img0.jpg"/>
          <p:cNvPicPr>
            <a:picLocks noChangeAspect="1" noChangeArrowheads="1"/>
          </p:cNvPicPr>
          <p:nvPr/>
        </p:nvPicPr>
        <p:blipFill>
          <a:blip r:embed="rId2"/>
          <a:srcRect l="9245" t="10229" r="2632" b="7697"/>
          <a:stretch>
            <a:fillRect/>
          </a:stretch>
        </p:blipFill>
        <p:spPr bwMode="auto">
          <a:xfrm>
            <a:off x="504825" y="403761"/>
            <a:ext cx="8145463" cy="574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04C8F8C-CC41-4961-B3A3-089DC8325DE2}" type="slidenum">
              <a:rPr lang="ru-RU" altLang="ru-RU" smtClean="0"/>
              <a:pPr/>
              <a:t>5</a:t>
            </a:fld>
            <a:endParaRPr lang="ru-RU" altLang="ru-RU" smtClean="0"/>
          </a:p>
        </p:txBody>
      </p:sp>
      <p:sp>
        <p:nvSpPr>
          <p:cNvPr id="22531" name="TextBox 2"/>
          <p:cNvSpPr txBox="1">
            <a:spLocks noChangeArrowheads="1"/>
          </p:cNvSpPr>
          <p:nvPr/>
        </p:nvSpPr>
        <p:spPr bwMode="auto">
          <a:xfrm>
            <a:off x="2476892" y="558800"/>
            <a:ext cx="3825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3200" b="1" u="sng" dirty="0">
                <a:latin typeface="Times New Roman" pitchFamily="18" charset="0"/>
                <a:cs typeface="Times New Roman" pitchFamily="18" charset="0"/>
              </a:rPr>
              <a:t>ДИЭЛЕКТРИКИ</a:t>
            </a:r>
          </a:p>
        </p:txBody>
      </p:sp>
      <p:sp>
        <p:nvSpPr>
          <p:cNvPr id="22532" name="Прямоугольник 3"/>
          <p:cNvSpPr>
            <a:spLocks noChangeArrowheads="1"/>
          </p:cNvSpPr>
          <p:nvPr/>
        </p:nvSpPr>
        <p:spPr bwMode="auto">
          <a:xfrm>
            <a:off x="192088" y="1727200"/>
            <a:ext cx="8951912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>
                <a:latin typeface="Times New Roman" pitchFamily="18" charset="0"/>
                <a:cs typeface="Times New Roman" pitchFamily="18" charset="0"/>
              </a:rPr>
              <a:t>Диэлектрик состоит из атомов и молекул. Так как положительный заряд всех ядер молекулы равен суммарному заряду электронов, то молекула в целом электрически нейтральна.</a:t>
            </a:r>
            <a:r>
              <a:rPr lang="ru-RU" altLang="ru-RU"/>
              <a:t/>
            </a:r>
            <a:br>
              <a:rPr lang="ru-RU" altLang="ru-RU"/>
            </a:br>
            <a:r>
              <a:rPr lang="ru-RU" altLang="ru-RU"/>
              <a:t> </a:t>
            </a:r>
            <a:br>
              <a:rPr lang="ru-RU" altLang="ru-RU"/>
            </a:br>
            <a:endParaRPr lang="ru-RU" altLang="ru-RU"/>
          </a:p>
        </p:txBody>
      </p:sp>
      <p:pic>
        <p:nvPicPr>
          <p:cNvPr id="22533" name="Picture 2" descr="https://fsd.multiurok.ru/html/2019/09/15/s_5d7e0a422f733/img2.jpg"/>
          <p:cNvPicPr>
            <a:picLocks noChangeAspect="1" noChangeArrowheads="1"/>
          </p:cNvPicPr>
          <p:nvPr/>
        </p:nvPicPr>
        <p:blipFill>
          <a:blip r:embed="rId2"/>
          <a:srcRect l="4668" t="22717"/>
          <a:stretch>
            <a:fillRect/>
          </a:stretch>
        </p:blipFill>
        <p:spPr bwMode="auto">
          <a:xfrm>
            <a:off x="5054600" y="2435225"/>
            <a:ext cx="3871913" cy="266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Прямоугольник 6"/>
          <p:cNvSpPr>
            <a:spLocks noChangeArrowheads="1"/>
          </p:cNvSpPr>
          <p:nvPr/>
        </p:nvSpPr>
        <p:spPr bwMode="auto">
          <a:xfrm>
            <a:off x="192088" y="2719388"/>
            <a:ext cx="5318125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Если заменить положительные заряды ядер молекул суммарным зарядом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+ Q,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находящимся в центре «тяжести»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положительных зарядов, а заряд всех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электронов — суммарным отрицательным зарядом -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Q,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находящимся в центре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«тяжести» отрицательных зарядов,</a:t>
            </a:r>
            <a:r>
              <a:rPr lang="ru-RU" altLang="ru-RU" sz="2000" dirty="0"/>
              <a:t>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то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молекулу можно рассматривать как электрический диполь с электрическим моментом 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p = |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ru-RU" sz="2000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altLang="ru-RU" sz="2000" dirty="0"/>
              <a:t/>
            </a:r>
            <a:br>
              <a:rPr lang="ru-RU" altLang="ru-RU" sz="2000" dirty="0"/>
            </a:br>
            <a:r>
              <a:rPr lang="ru-RU" altLang="ru-RU" sz="2000" dirty="0"/>
              <a:t>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endParaRPr lang="ru-RU" alt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7627938" y="4740275"/>
            <a:ext cx="23812" cy="360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8216900" y="4740275"/>
            <a:ext cx="36513" cy="360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7651750" y="5110163"/>
            <a:ext cx="601663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8" name="TextBox 13"/>
          <p:cNvSpPr txBox="1">
            <a:spLocks noChangeArrowheads="1"/>
          </p:cNvSpPr>
          <p:nvPr/>
        </p:nvSpPr>
        <p:spPr bwMode="auto">
          <a:xfrm>
            <a:off x="7694613" y="4740275"/>
            <a:ext cx="349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i="1">
                <a:latin typeface="Times New Roman" pitchFamily="18" charset="0"/>
                <a:cs typeface="Times New Roman" pitchFamily="18" charset="0"/>
              </a:rPr>
              <a:t>l</a:t>
            </a:r>
            <a:endParaRPr lang="ru-RU" i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26B637C-704D-4CBC-83AD-DA97598E9F51}" type="slidenum">
              <a:rPr lang="ru-RU" altLang="ru-RU" smtClean="0"/>
              <a:pPr/>
              <a:t>6</a:t>
            </a:fld>
            <a:endParaRPr lang="ru-RU" altLang="ru-RU" smtClean="0"/>
          </a:p>
        </p:txBody>
      </p:sp>
      <p:pic>
        <p:nvPicPr>
          <p:cNvPr id="23555" name="Picture 2" descr="http://bigslide.ru/images/11/10602/960/img1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8463" y="1077913"/>
            <a:ext cx="5273675" cy="454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6621463" y="1889125"/>
            <a:ext cx="2241550" cy="64611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ru-RU" dirty="0"/>
              <a:t>Ионные кристаллы.</a:t>
            </a:r>
            <a:br>
              <a:rPr lang="ru-RU" dirty="0"/>
            </a:br>
            <a:endParaRPr lang="ru-RU" dirty="0"/>
          </a:p>
        </p:txBody>
      </p:sp>
      <p:cxnSp>
        <p:nvCxnSpPr>
          <p:cNvPr id="6" name="Соединительная линия уступом 5"/>
          <p:cNvCxnSpPr>
            <a:endCxn id="4" idx="1"/>
          </p:cNvCxnSpPr>
          <p:nvPr/>
        </p:nvCxnSpPr>
        <p:spPr>
          <a:xfrm>
            <a:off x="5475288" y="1412875"/>
            <a:ext cx="1146175" cy="79851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21463" y="2986088"/>
            <a:ext cx="2079625" cy="36988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ru-RU" dirty="0"/>
              <a:t>Сегнетоэлектрики</a:t>
            </a:r>
          </a:p>
        </p:txBody>
      </p:sp>
      <p:cxnSp>
        <p:nvCxnSpPr>
          <p:cNvPr id="16" name="Shape 15"/>
          <p:cNvCxnSpPr>
            <a:endCxn id="10" idx="1"/>
          </p:cNvCxnSpPr>
          <p:nvPr/>
        </p:nvCxnSpPr>
        <p:spPr>
          <a:xfrm>
            <a:off x="5311775" y="1987550"/>
            <a:ext cx="1309688" cy="118427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B816BE5-983F-43B3-A6C8-7E0CCAEA4986}" type="slidenum">
              <a:rPr lang="ru-RU" altLang="ru-RU" smtClean="0"/>
              <a:pPr/>
              <a:t>7</a:t>
            </a:fld>
            <a:endParaRPr lang="ru-RU" altLang="ru-RU" smtClean="0"/>
          </a:p>
        </p:txBody>
      </p:sp>
      <p:pic>
        <p:nvPicPr>
          <p:cNvPr id="24579" name="Picture 2" descr="http://cf.ppt-online.org/files/slide/y/yKhwHt2iALmkR6dZNes7VzqOJjvxngfrCbGW4p/slide-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16000"/>
            <a:ext cx="5308600" cy="397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0" name="Прямоугольник 3"/>
          <p:cNvSpPr>
            <a:spLocks noChangeArrowheads="1"/>
          </p:cNvSpPr>
          <p:nvPr/>
        </p:nvSpPr>
        <p:spPr bwMode="auto">
          <a:xfrm>
            <a:off x="5308600" y="1016000"/>
            <a:ext cx="3597275" cy="563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Вещества, молекулы которых имеют асимметричное строение, т.е. центры «тяжести» положительных и отрицательных зарядов не совпадают являются полярными: Н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О,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NH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SO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CO и др.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/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Эти молекулы в отсутствие внешнего электрического поля обладают дипольным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моментом 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 b="1">
                <a:latin typeface="Times New Roman" pitchFamily="18" charset="0"/>
                <a:cs typeface="Times New Roman" pitchFamily="18" charset="0"/>
              </a:rPr>
              <a:t>                   Р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altLang="ru-RU" sz="2000" b="1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q-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заряд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диполя</a:t>
            </a:r>
            <a:r>
              <a:rPr lang="ru-RU" altLang="ru-RU" sz="2000" i="1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000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-плечо диполя</a:t>
            </a:r>
            <a:r>
              <a:rPr lang="ru-RU" altLang="ru-RU" sz="2000"/>
              <a:t/>
            </a:r>
            <a:br>
              <a:rPr lang="ru-RU" altLang="ru-RU" sz="2000"/>
            </a:br>
            <a:r>
              <a:rPr lang="ru-RU" altLang="ru-RU" sz="2000"/>
              <a:t> </a:t>
            </a:r>
            <a:br>
              <a:rPr lang="ru-RU" altLang="ru-RU" sz="2000"/>
            </a:br>
            <a:r>
              <a:rPr lang="ru-RU" altLang="ru-RU" sz="2000"/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endParaRPr lang="ru-RU" altLang="ru-RU" sz="2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 стрелкой 5"/>
          <p:cNvCxnSpPr/>
          <p:nvPr/>
        </p:nvCxnSpPr>
        <p:spPr>
          <a:xfrm>
            <a:off x="2298700" y="3814763"/>
            <a:ext cx="109378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2" name="TextBox 7"/>
          <p:cNvSpPr txBox="1">
            <a:spLocks noChangeArrowheads="1"/>
          </p:cNvSpPr>
          <p:nvPr/>
        </p:nvSpPr>
        <p:spPr bwMode="auto">
          <a:xfrm>
            <a:off x="2574925" y="3814763"/>
            <a:ext cx="37306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b="1"/>
              <a:t>Р</a:t>
            </a:r>
          </a:p>
        </p:txBody>
      </p:sp>
      <p:sp>
        <p:nvSpPr>
          <p:cNvPr id="24583" name="Прямоугольник 8"/>
          <p:cNvSpPr>
            <a:spLocks noChangeArrowheads="1"/>
          </p:cNvSpPr>
          <p:nvPr/>
        </p:nvSpPr>
        <p:spPr bwMode="auto">
          <a:xfrm>
            <a:off x="288925" y="4689475"/>
            <a:ext cx="45720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При отсутствии внешнего поля дипольные моменты полярных молекул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вследствие теплового движения ориентированы в пространстве хаотично и их результирующий момент равен нулю.</a:t>
            </a:r>
            <a:r>
              <a:rPr lang="ru-RU" altLang="ru-RU"/>
              <a:t/>
            </a:r>
            <a:br>
              <a:rPr lang="ru-RU" altLang="ru-RU"/>
            </a:br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9AD331C-73A0-4A5C-ACFD-95C9E9171A78}" type="slidenum">
              <a:rPr lang="ru-RU" altLang="ru-RU" smtClean="0"/>
              <a:pPr/>
              <a:t>8</a:t>
            </a:fld>
            <a:endParaRPr lang="ru-RU" altLang="ru-RU" smtClean="0"/>
          </a:p>
        </p:txBody>
      </p:sp>
      <p:pic>
        <p:nvPicPr>
          <p:cNvPr id="25603" name="Picture 2" descr="http://cf.ppt-online.org/files/slide/m/mEryjKDgHAP2up80QXRo4IGJ9kedb1MiFcxq6S/slide-7.jpg"/>
          <p:cNvPicPr>
            <a:picLocks noChangeAspect="1" noChangeArrowheads="1"/>
          </p:cNvPicPr>
          <p:nvPr/>
        </p:nvPicPr>
        <p:blipFill>
          <a:blip r:embed="rId2"/>
          <a:srcRect t="23993" r="52129" b="21301"/>
          <a:stretch>
            <a:fillRect/>
          </a:stretch>
        </p:blipFill>
        <p:spPr bwMode="auto">
          <a:xfrm>
            <a:off x="469900" y="1593850"/>
            <a:ext cx="3536950" cy="302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469900" y="1050925"/>
            <a:ext cx="51641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 b="1">
                <a:latin typeface="Times New Roman" pitchFamily="18" charset="0"/>
                <a:cs typeface="Times New Roman" pitchFamily="18" charset="0"/>
              </a:rPr>
              <a:t>Ковалентная неполярная связь</a:t>
            </a:r>
          </a:p>
        </p:txBody>
      </p:sp>
      <p:sp>
        <p:nvSpPr>
          <p:cNvPr id="25605" name="Прямоугольник 4"/>
          <p:cNvSpPr>
            <a:spLocks noChangeArrowheads="1"/>
          </p:cNvSpPr>
          <p:nvPr/>
        </p:nvSpPr>
        <p:spPr bwMode="auto">
          <a:xfrm>
            <a:off x="4411663" y="1593850"/>
            <a:ext cx="4572000" cy="406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>
                <a:latin typeface="Times New Roman" pitchFamily="18" charset="0"/>
                <a:cs typeface="Times New Roman" pitchFamily="18" charset="0"/>
              </a:rPr>
              <a:t>Вещества, молекулы которых имеют симметричное строение, т. е. центры «тяжести» положительных и отрицательных зарядов в отсутствие внешнего электрического поля совпадают и, следовательно, дипольный момент </a:t>
            </a:r>
            <a:r>
              <a:rPr lang="ru-RU" altLang="ru-RU" sz="2400" i="1">
                <a:latin typeface="Times New Roman" pitchFamily="18" charset="0"/>
                <a:cs typeface="Times New Roman" pitchFamily="18" charset="0"/>
              </a:rPr>
              <a:t>р </a:t>
            </a:r>
            <a:r>
              <a:rPr lang="ru-RU" altLang="ru-RU" sz="2400">
                <a:latin typeface="Times New Roman" pitchFamily="18" charset="0"/>
                <a:cs typeface="Times New Roman" pitchFamily="18" charset="0"/>
              </a:rPr>
              <a:t>молекулы равен нулю,  называются </a:t>
            </a:r>
            <a:r>
              <a:rPr lang="ru-RU" altLang="ru-RU" sz="2400" i="1" u="sng">
                <a:latin typeface="Times New Roman" pitchFamily="18" charset="0"/>
                <a:cs typeface="Times New Roman" pitchFamily="18" charset="0"/>
              </a:rPr>
              <a:t>неполярными. </a:t>
            </a:r>
            <a:r>
              <a:rPr lang="ru-RU" altLang="ru-RU" sz="2400" b="1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400" b="1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4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/>
              <a:t/>
            </a:r>
            <a:br>
              <a:rPr lang="ru-RU" altLang="ru-RU"/>
            </a:br>
            <a:endParaRPr lang="ru-RU" altLang="ru-RU"/>
          </a:p>
        </p:txBody>
      </p:sp>
      <p:sp>
        <p:nvSpPr>
          <p:cNvPr id="25606" name="Прямоугольник 5"/>
          <p:cNvSpPr>
            <a:spLocks noChangeArrowheads="1"/>
          </p:cNvSpPr>
          <p:nvPr/>
        </p:nvSpPr>
        <p:spPr bwMode="auto">
          <a:xfrm>
            <a:off x="157163" y="4897438"/>
            <a:ext cx="4254500" cy="129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К этой группе диэлектриков  относятся N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,Н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О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СО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СН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Cl </a:t>
            </a:r>
            <a:r>
              <a:rPr lang="en-US" altLang="ru-RU" sz="2000" baseline="-25000">
                <a:latin typeface="Times New Roman" pitchFamily="18" charset="0"/>
                <a:cs typeface="Times New Roman" pitchFamily="18" charset="0"/>
              </a:rPr>
              <a:t>2,</a:t>
            </a:r>
          </a:p>
          <a:p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ru-RU" sz="2000" baseline="-2500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ru-RU" sz="2000" baseline="-2500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ru-RU" altLang="ru-RU"/>
              <a:t/>
            </a:r>
            <a:br>
              <a:rPr lang="ru-RU" altLang="ru-RU"/>
            </a:br>
            <a:endParaRPr lang="ru-RU" alt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79C3726-36B8-45A8-984D-571CCF6CD661}" type="slidenum">
              <a:rPr lang="ru-RU" altLang="ru-RU" smtClean="0"/>
              <a:pPr/>
              <a:t>9</a:t>
            </a:fld>
            <a:endParaRPr lang="ru-RU" altLang="ru-RU" smtClean="0"/>
          </a:p>
        </p:txBody>
      </p:sp>
      <p:sp>
        <p:nvSpPr>
          <p:cNvPr id="26627" name="Прямоугольник 2"/>
          <p:cNvSpPr>
            <a:spLocks noChangeArrowheads="1"/>
          </p:cNvSpPr>
          <p:nvPr/>
        </p:nvSpPr>
        <p:spPr bwMode="auto">
          <a:xfrm>
            <a:off x="228600" y="1130300"/>
            <a:ext cx="8734425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Третью группу диэлектриков (NaC</a:t>
            </a:r>
            <a:r>
              <a:rPr lang="ru-RU" altLang="ru-RU" sz="2000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КС</a:t>
            </a:r>
            <a:r>
              <a:rPr lang="en-US" altLang="ru-RU" sz="2000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, КВr,...) составляют вещества, молекулы которых имеют ионное строение. Ионные кристаллы представляют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собой пространственные решетки с правильным чередованием ионов разных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знаков.</a:t>
            </a:r>
            <a:r>
              <a:rPr lang="ru-RU" altLang="ru-RU" sz="2000"/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В этих кристаллах нельзя выделить отдельные молекулы, а рассматривать их можно как систему двух вдвинутых одна в другую ионных подрешеток. </a:t>
            </a:r>
            <a:r>
              <a:rPr lang="ru-RU" altLang="ru-RU" sz="2000"/>
              <a:t/>
            </a:r>
            <a:br>
              <a:rPr lang="ru-RU" altLang="ru-RU" sz="2000"/>
            </a:b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/>
              <a:t/>
            </a:r>
            <a:br>
              <a:rPr lang="ru-RU" altLang="ru-RU"/>
            </a:br>
            <a:endParaRPr lang="ru-RU" altLang="ru-RU"/>
          </a:p>
        </p:txBody>
      </p:sp>
      <p:pic>
        <p:nvPicPr>
          <p:cNvPr id="26628" name="Picture 4" descr="https://ds04.infourok.ru/uploads/ex/0c09/0014a578-6bf8df04/img17.jpg"/>
          <p:cNvPicPr>
            <a:picLocks noChangeAspect="1" noChangeArrowheads="1"/>
          </p:cNvPicPr>
          <p:nvPr/>
        </p:nvPicPr>
        <p:blipFill>
          <a:blip r:embed="rId2"/>
          <a:srcRect l="4057" t="15820" r="7828" b="31631"/>
          <a:stretch>
            <a:fillRect/>
          </a:stretch>
        </p:blipFill>
        <p:spPr bwMode="auto">
          <a:xfrm>
            <a:off x="0" y="3067050"/>
            <a:ext cx="4681538" cy="209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9" name="Picture 6" descr="https://fs00.infourok.ru/images/doc/302/301260/img6.jpg"/>
          <p:cNvPicPr>
            <a:picLocks noChangeAspect="1" noChangeArrowheads="1"/>
          </p:cNvPicPr>
          <p:nvPr/>
        </p:nvPicPr>
        <p:blipFill>
          <a:blip r:embed="rId3"/>
          <a:srcRect l="3502" t="7083" r="4147" b="870"/>
          <a:stretch>
            <a:fillRect/>
          </a:stretch>
        </p:blipFill>
        <p:spPr bwMode="auto">
          <a:xfrm>
            <a:off x="4945063" y="2922588"/>
            <a:ext cx="4198937" cy="343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16C69C-5807-436C-BDD7-C43A4D1D9DFC}" type="slidenum">
              <a:rPr lang="ru-RU" altLang="ru-RU" smtClean="0"/>
              <a:pPr/>
              <a:t>10</a:t>
            </a:fld>
            <a:endParaRPr lang="ru-RU" altLang="ru-RU" smtClean="0"/>
          </a:p>
        </p:txBody>
      </p:sp>
      <p:pic>
        <p:nvPicPr>
          <p:cNvPr id="27651" name="Picture 6" descr="https://poznayka.org/baza1/377744245141.files/image07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1313" y="724395"/>
            <a:ext cx="5386387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Прямоугольник 5"/>
          <p:cNvSpPr>
            <a:spLocks noChangeArrowheads="1"/>
          </p:cNvSpPr>
          <p:nvPr/>
        </p:nvSpPr>
        <p:spPr bwMode="auto">
          <a:xfrm>
            <a:off x="265113" y="5032375"/>
            <a:ext cx="86233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Под действием внешнего электрического поля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заряды </a:t>
            </a:r>
            <a:r>
              <a:rPr lang="ru-RU" altLang="ru-RU" sz="2000" b="1">
                <a:latin typeface="Times New Roman" pitchFamily="18" charset="0"/>
                <a:cs typeface="Times New Roman" pitchFamily="18" charset="0"/>
              </a:rPr>
              <a:t>неполярных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 молекул смещаются в противоположные стороны (положительные по полю, отрицательные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против поля) и молекула приобретает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дипольный момент.</a:t>
            </a:r>
            <a:br>
              <a:rPr lang="ru-RU" altLang="ru-RU" sz="2000">
                <a:latin typeface="Times New Roman" pitchFamily="18" charset="0"/>
                <a:cs typeface="Times New Roman" pitchFamily="18" charset="0"/>
              </a:rPr>
            </a:br>
            <a:endParaRPr lang="ru-RU" alt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3" name="Прямоугольник 6"/>
          <p:cNvSpPr>
            <a:spLocks noChangeArrowheads="1"/>
          </p:cNvSpPr>
          <p:nvPr/>
        </p:nvSpPr>
        <p:spPr bwMode="auto">
          <a:xfrm>
            <a:off x="5727700" y="1371600"/>
            <a:ext cx="2895600" cy="344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Если 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полярный диэлектрик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поместить во внешнее поле, то силы этого поля будут стремиться повернуть диполи вдоль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поля и в результате возникнет отличный от нуля результирующий момент.</a:t>
            </a:r>
            <a:r>
              <a:rPr lang="ru-RU" altLang="ru-RU" dirty="0"/>
              <a:t/>
            </a:r>
            <a:br>
              <a:rPr lang="ru-RU" altLang="ru-RU" dirty="0"/>
            </a:b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DACE75-D7BF-495C-AD86-494C742677A6}" type="slidenum">
              <a:rPr lang="ru-RU" altLang="ru-RU" smtClean="0"/>
              <a:pPr/>
              <a:t>11</a:t>
            </a:fld>
            <a:endParaRPr lang="ru-RU" altLang="ru-RU" smtClean="0"/>
          </a:p>
        </p:txBody>
      </p:sp>
      <p:sp>
        <p:nvSpPr>
          <p:cNvPr id="28675" name="Прямоугольник 3"/>
          <p:cNvSpPr>
            <a:spLocks noChangeArrowheads="1"/>
          </p:cNvSpPr>
          <p:nvPr/>
        </p:nvSpPr>
        <p:spPr bwMode="auto">
          <a:xfrm>
            <a:off x="180975" y="1214438"/>
            <a:ext cx="8697913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>
                <a:latin typeface="Times New Roman" pitchFamily="18" charset="0"/>
                <a:cs typeface="Times New Roman" pitchFamily="18" charset="0"/>
              </a:rPr>
              <a:t>При наложении на ионный кристалл электрического поля происходит деформация кристаллической решетки или относительное смещение подрешеток, приводящее к возникновению дипольных моментов.</a:t>
            </a:r>
            <a:br>
              <a:rPr lang="ru-RU" altLang="ru-RU" sz="2400">
                <a:latin typeface="Times New Roman" pitchFamily="18" charset="0"/>
                <a:cs typeface="Times New Roman" pitchFamily="18" charset="0"/>
              </a:rPr>
            </a:br>
            <a:endParaRPr lang="ru-RU" altLang="ru-RU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6" name="Прямоугольник 4"/>
          <p:cNvSpPr>
            <a:spLocks noChangeArrowheads="1"/>
          </p:cNvSpPr>
          <p:nvPr/>
        </p:nvSpPr>
        <p:spPr bwMode="auto">
          <a:xfrm>
            <a:off x="0" y="2779713"/>
            <a:ext cx="9144000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>
                <a:latin typeface="Times New Roman" pitchFamily="18" charset="0"/>
                <a:cs typeface="Times New Roman" pitchFamily="18" charset="0"/>
              </a:rPr>
              <a:t>  Внесение всех трех групп диэлектриков во внешнее электрическое поле приводит к возникновению отличного от нуля результирующего электрического момента диэлектрика или, иными словами, к поляризации диэлектрика.</a:t>
            </a:r>
            <a:r>
              <a:rPr lang="ru-RU" altLang="ru-RU" sz="2400"/>
              <a:t/>
            </a:r>
            <a:br>
              <a:rPr lang="ru-RU" altLang="ru-RU" sz="2400"/>
            </a:br>
            <a:endParaRPr lang="ru-RU" altLang="ru-RU" sz="2400"/>
          </a:p>
        </p:txBody>
      </p:sp>
      <p:sp>
        <p:nvSpPr>
          <p:cNvPr id="26629" name="Прямоугольник 5"/>
          <p:cNvSpPr>
            <a:spLocks noChangeArrowheads="1"/>
          </p:cNvSpPr>
          <p:nvPr/>
        </p:nvSpPr>
        <p:spPr bwMode="auto">
          <a:xfrm>
            <a:off x="180975" y="4440238"/>
            <a:ext cx="896302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ru-RU" altLang="ru-RU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Поляризацией</a:t>
            </a:r>
            <a:r>
              <a:rPr lang="ru-RU" altLang="ru-RU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диэлектрика называется процесс ориентации диполей или появления под воздействием внешнего электрического поля ориентированных по полю диполей.</a:t>
            </a:r>
            <a:r>
              <a:rPr lang="ru-RU" alt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alt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alt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body" sz="half" idx="3"/>
          </p:nvPr>
        </p:nvSpPr>
        <p:spPr bwMode="auto">
          <a:xfrm>
            <a:off x="533400" y="1524000"/>
            <a:ext cx="8077200" cy="31638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sz="2400" smtClean="0">
                <a:latin typeface="Times New Roman" pitchFamily="18" charset="0"/>
                <a:cs typeface="Times New Roman" pitchFamily="18" charset="0"/>
              </a:rPr>
              <a:t>Главное в поляризации – смещение зарядов в электростатическом поле. В результате, каждая молекула или атом приобретает дипольный момент</a:t>
            </a:r>
            <a:endParaRPr lang="en-US" altLang="ru-RU" sz="240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ru-RU" sz="2400" smtClean="0"/>
          </a:p>
          <a:p>
            <a:pPr>
              <a:buFont typeface="Wingdings" pitchFamily="2" charset="2"/>
              <a:buNone/>
            </a:pPr>
            <a:r>
              <a:rPr lang="ru-RU" altLang="ru-RU" sz="2400" smtClean="0"/>
              <a:t>      </a:t>
            </a:r>
          </a:p>
          <a:p>
            <a:pPr>
              <a:buFont typeface="Wingdings" pitchFamily="2" charset="2"/>
              <a:buNone/>
            </a:pPr>
            <a:r>
              <a:rPr lang="ru-RU" altLang="ru-RU" sz="2400" smtClean="0"/>
              <a:t>            </a:t>
            </a:r>
          </a:p>
        </p:txBody>
      </p:sp>
      <p:pic>
        <p:nvPicPr>
          <p:cNvPr id="1030" name="Picture 19" descr="3"/>
          <p:cNvPicPr>
            <a:picLocks noChangeAspect="1" noChangeArrowheads="1"/>
          </p:cNvPicPr>
          <p:nvPr/>
        </p:nvPicPr>
        <p:blipFill>
          <a:blip r:embed="rId3"/>
          <a:srcRect l="-5714" t="27057" r="-11427" b="-8228"/>
          <a:stretch>
            <a:fillRect/>
          </a:stretch>
        </p:blipFill>
        <p:spPr bwMode="auto">
          <a:xfrm>
            <a:off x="2137558" y="3733800"/>
            <a:ext cx="411084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4572000" y="5791200"/>
          <a:ext cx="457200" cy="522288"/>
        </p:xfrm>
        <a:graphic>
          <a:graphicData uri="http://schemas.openxmlformats.org/presentationml/2006/ole">
            <p:oleObj spid="_x0000_s1026" name="Equation" r:id="rId4" imgW="88669" imgH="177338" progId="">
              <p:embed/>
            </p:oleObj>
          </a:graphicData>
        </a:graphic>
      </p:graphicFrame>
      <p:cxnSp>
        <p:nvCxnSpPr>
          <p:cNvPr id="10" name="Прямая со стрелкой 9"/>
          <p:cNvCxnSpPr/>
          <p:nvPr/>
        </p:nvCxnSpPr>
        <p:spPr>
          <a:xfrm rot="10800000">
            <a:off x="3581400" y="3505200"/>
            <a:ext cx="18288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7" name="Object 4"/>
          <p:cNvGraphicFramePr>
            <a:graphicFrameLocks noChangeAspect="1"/>
          </p:cNvGraphicFramePr>
          <p:nvPr/>
        </p:nvGraphicFramePr>
        <p:xfrm>
          <a:off x="4267200" y="2743200"/>
          <a:ext cx="533400" cy="706438"/>
        </p:xfrm>
        <a:graphic>
          <a:graphicData uri="http://schemas.openxmlformats.org/presentationml/2006/ole">
            <p:oleObj spid="_x0000_s1027" name="Equation" r:id="rId5" imgW="190417" imgH="253890" progId="">
              <p:embed/>
            </p:oleObj>
          </a:graphicData>
        </a:graphic>
      </p:graphicFrame>
      <p:graphicFrame>
        <p:nvGraphicFramePr>
          <p:cNvPr id="1028" name="Object 7"/>
          <p:cNvGraphicFramePr>
            <a:graphicFrameLocks noChangeAspect="1"/>
          </p:cNvGraphicFramePr>
          <p:nvPr/>
        </p:nvGraphicFramePr>
        <p:xfrm>
          <a:off x="6248400" y="2133600"/>
          <a:ext cx="603250" cy="465138"/>
        </p:xfrm>
        <a:graphic>
          <a:graphicData uri="http://schemas.openxmlformats.org/presentationml/2006/ole">
            <p:oleObj spid="_x0000_s1028" name="Equation" r:id="rId6" imgW="152268" imgH="203024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9FA80C7-BCBF-4889-B5A1-322146C06CCA}" type="slidenum">
              <a:rPr lang="ru-RU" altLang="ru-RU" smtClean="0"/>
              <a:pPr/>
              <a:t>13</a:t>
            </a:fld>
            <a:endParaRPr lang="ru-RU" altLang="ru-RU" smtClean="0"/>
          </a:p>
        </p:txBody>
      </p:sp>
      <p:sp>
        <p:nvSpPr>
          <p:cNvPr id="29699" name="Прямоугольник 2"/>
          <p:cNvSpPr>
            <a:spLocks noChangeArrowheads="1"/>
          </p:cNvSpPr>
          <p:nvPr/>
        </p:nvSpPr>
        <p:spPr bwMode="auto">
          <a:xfrm>
            <a:off x="385763" y="274638"/>
            <a:ext cx="4572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 b="1" u="sng" dirty="0">
                <a:latin typeface="Times New Roman" pitchFamily="18" charset="0"/>
                <a:cs typeface="Times New Roman" pitchFamily="18" charset="0"/>
              </a:rPr>
              <a:t>Три вида поляризации:</a:t>
            </a:r>
            <a:br>
              <a:rPr lang="ru-RU" altLang="ru-RU" sz="2400" b="1" u="sng" dirty="0">
                <a:latin typeface="Times New Roman" pitchFamily="18" charset="0"/>
                <a:cs typeface="Times New Roman" pitchFamily="18" charset="0"/>
              </a:rPr>
            </a:br>
            <a:endParaRPr lang="ru-RU" altLang="ru-RU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106488"/>
            <a:ext cx="9144000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000" b="1" i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b="1" i="1" u="sng" dirty="0">
                <a:latin typeface="Times New Roman" pitchFamily="18" charset="0"/>
                <a:cs typeface="Times New Roman" pitchFamily="18" charset="0"/>
              </a:rPr>
              <a:t>Электронная, </a:t>
            </a:r>
            <a:r>
              <a:rPr lang="ru-RU" sz="2000" b="1" u="sng" dirty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ru-RU" sz="2000" b="1" i="1" u="sng" dirty="0">
                <a:latin typeface="Times New Roman" pitchFamily="18" charset="0"/>
                <a:cs typeface="Times New Roman" pitchFamily="18" charset="0"/>
              </a:rPr>
              <a:t>деформационная, поляризация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диэлектрика с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неполярными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молекулами, заключающаяся в возникновении у атомов индуцированного дипольного момента за счет деформации электронных орбит.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b="1" dirty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2161309"/>
            <a:ext cx="9144000" cy="31099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b="1" i="1" dirty="0"/>
              <a:t>- </a:t>
            </a:r>
            <a:r>
              <a:rPr lang="ru-RU" sz="2000" b="1" i="1" u="sng" dirty="0">
                <a:latin typeface="Times New Roman" pitchFamily="18" charset="0"/>
                <a:cs typeface="Times New Roman" pitchFamily="18" charset="0"/>
              </a:rPr>
              <a:t>Ориентационная, </a:t>
            </a:r>
            <a:r>
              <a:rPr lang="ru-RU" sz="2000" b="1" u="sng" dirty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ru-RU" sz="2000" b="1" i="1" u="sng" dirty="0">
                <a:latin typeface="Times New Roman" pitchFamily="18" charset="0"/>
                <a:cs typeface="Times New Roman" pitchFamily="18" charset="0"/>
              </a:rPr>
              <a:t>дипольная,</a:t>
            </a:r>
            <a:r>
              <a:rPr lang="ru-RU" sz="20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i="1" u="sng" dirty="0">
                <a:latin typeface="Times New Roman" pitchFamily="18" charset="0"/>
                <a:cs typeface="Times New Roman" pitchFamily="18" charset="0"/>
              </a:rPr>
              <a:t>поляризация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диэлектрика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полярными молекулами,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заключающаяся в ориентации имеющихся дипольных моментов молекул по полю.</a:t>
            </a:r>
          </a:p>
          <a:p>
            <a:pPr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   Тепловое движение препятствует полной ориентации молекул, но в результате совместного действия обоих факторов (электрическое поле и тепловое движение) возникает преимущественная ориентация дипольных моментов молекул по полю. Эта ориентация тем сильнее, чем больше напряженность электрического поля и ниже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температура._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 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29702" name="Прямоугольник 5"/>
          <p:cNvSpPr>
            <a:spLocks noChangeArrowheads="1"/>
          </p:cNvSpPr>
          <p:nvPr/>
        </p:nvSpPr>
        <p:spPr bwMode="auto">
          <a:xfrm>
            <a:off x="0" y="4725987"/>
            <a:ext cx="914400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 b="1" i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altLang="ru-RU" sz="2000" b="1" i="1" u="sng" dirty="0">
                <a:latin typeface="Times New Roman" pitchFamily="18" charset="0"/>
                <a:cs typeface="Times New Roman" pitchFamily="18" charset="0"/>
              </a:rPr>
              <a:t>Ионная поляризация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диэлектриков с ионными кристаллическими решетками, заключающаяся в смещении подрешетки положительных ионов вдоль поля, а отрицательных — против поля, приводящем к возникновению дипольных моментов.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000" b="1" dirty="0">
                <a:latin typeface="Times New Roman" pitchFamily="18" charset="0"/>
                <a:cs typeface="Times New Roman" pitchFamily="18" charset="0"/>
              </a:rPr>
            </a:br>
            <a:endParaRPr lang="ru-RU" alt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D6D8E52-F160-41E7-AA65-730A81B38254}" type="slidenum">
              <a:rPr lang="ru-RU" altLang="ru-RU" smtClean="0"/>
              <a:pPr/>
              <a:t>14</a:t>
            </a:fld>
            <a:endParaRPr lang="ru-RU" altLang="ru-RU" smtClean="0"/>
          </a:p>
        </p:txBody>
      </p:sp>
      <p:pic>
        <p:nvPicPr>
          <p:cNvPr id="30723" name="Picture 5" descr="3_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3750" y="1752600"/>
            <a:ext cx="801211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4" name="Прямоугольник 3"/>
          <p:cNvSpPr>
            <a:spLocks noChangeArrowheads="1"/>
          </p:cNvSpPr>
          <p:nvPr/>
        </p:nvSpPr>
        <p:spPr bwMode="auto">
          <a:xfrm>
            <a:off x="5027613" y="1997075"/>
            <a:ext cx="2082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>
                <a:latin typeface="Times New Roman" pitchFamily="18" charset="0"/>
                <a:cs typeface="Times New Roman" pitchFamily="18" charset="0"/>
              </a:rPr>
              <a:t>(неполярная молекула)</a:t>
            </a:r>
          </a:p>
        </p:txBody>
      </p:sp>
      <p:sp>
        <p:nvSpPr>
          <p:cNvPr id="30725" name="Прямоугольник 4"/>
          <p:cNvSpPr>
            <a:spLocks noChangeArrowheads="1"/>
          </p:cNvSpPr>
          <p:nvPr/>
        </p:nvSpPr>
        <p:spPr bwMode="auto">
          <a:xfrm>
            <a:off x="4900613" y="5378450"/>
            <a:ext cx="22098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altLang="ru-RU">
                <a:latin typeface="Times New Roman" pitchFamily="18" charset="0"/>
                <a:cs typeface="Times New Roman" pitchFamily="18" charset="0"/>
              </a:rPr>
              <a:t>(полярная молекула)</a:t>
            </a:r>
          </a:p>
        </p:txBody>
      </p:sp>
      <p:sp>
        <p:nvSpPr>
          <p:cNvPr id="30726" name="Прямоугольник 5"/>
          <p:cNvSpPr>
            <a:spLocks noChangeArrowheads="1"/>
          </p:cNvSpPr>
          <p:nvPr/>
        </p:nvSpPr>
        <p:spPr bwMode="auto">
          <a:xfrm>
            <a:off x="2141538" y="1046163"/>
            <a:ext cx="43164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altLang="ru-RU" sz="3200" b="1">
                <a:latin typeface="Times New Roman" pitchFamily="18" charset="0"/>
                <a:cs typeface="Times New Roman" pitchFamily="18" charset="0"/>
              </a:rPr>
              <a:t>Виды поляризуемости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AC625A-C888-41D0-A9CF-E50B4156E449}" type="slidenum">
              <a:rPr lang="ru-RU" altLang="ru-RU" smtClean="0"/>
              <a:pPr/>
              <a:t>15</a:t>
            </a:fld>
            <a:endParaRPr lang="ru-RU" altLang="ru-RU" smtClean="0"/>
          </a:p>
        </p:txBody>
      </p:sp>
      <p:sp>
        <p:nvSpPr>
          <p:cNvPr id="2052" name="Прямоугольник 2"/>
          <p:cNvSpPr>
            <a:spLocks noChangeArrowheads="1"/>
          </p:cNvSpPr>
          <p:nvPr/>
        </p:nvSpPr>
        <p:spPr bwMode="auto">
          <a:xfrm>
            <a:off x="180975" y="1214438"/>
            <a:ext cx="896302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В результате поляризации на поверхности диэлектрика появляются заряды, называемые поляризационными.</a:t>
            </a:r>
          </a:p>
        </p:txBody>
      </p:sp>
      <p:pic>
        <p:nvPicPr>
          <p:cNvPr id="2053" name="Picture 4" descr="2"/>
          <p:cNvPicPr>
            <a:picLocks noChangeAspect="1" noChangeArrowheads="1"/>
          </p:cNvPicPr>
          <p:nvPr/>
        </p:nvPicPr>
        <p:blipFill>
          <a:blip r:embed="rId3"/>
          <a:srcRect b="50179"/>
          <a:stretch>
            <a:fillRect/>
          </a:stretch>
        </p:blipFill>
        <p:spPr bwMode="auto">
          <a:xfrm>
            <a:off x="577850" y="1935163"/>
            <a:ext cx="2776538" cy="17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5" descr="2"/>
          <p:cNvPicPr>
            <a:picLocks noChangeAspect="1" noChangeArrowheads="1"/>
          </p:cNvPicPr>
          <p:nvPr/>
        </p:nvPicPr>
        <p:blipFill>
          <a:blip r:embed="rId3"/>
          <a:srcRect t="49989"/>
          <a:stretch>
            <a:fillRect/>
          </a:stretch>
        </p:blipFill>
        <p:spPr bwMode="auto">
          <a:xfrm>
            <a:off x="3660775" y="2127250"/>
            <a:ext cx="2447925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5" name="Прямоугольник 5"/>
          <p:cNvSpPr>
            <a:spLocks noChangeArrowheads="1"/>
          </p:cNvSpPr>
          <p:nvPr/>
        </p:nvSpPr>
        <p:spPr bwMode="auto">
          <a:xfrm>
            <a:off x="180975" y="3849688"/>
            <a:ext cx="8758238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Внутри диэлектрика электрические заряды диполей компенсируют друг друга. Но на внешних поверхностях диэлектрика, появляются заряды противоположного знака (</a:t>
            </a:r>
            <a:r>
              <a:rPr lang="ru-RU" altLang="ru-RU" sz="2000" b="1" i="1">
                <a:latin typeface="Times New Roman" pitchFamily="18" charset="0"/>
                <a:cs typeface="Times New Roman" pitchFamily="18" charset="0"/>
              </a:rPr>
              <a:t>поверхностно связанные заряды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 Е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`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– электростатическое поле связанных зарядов. Оно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направлено всегда против внешнего поля  Е</a:t>
            </a:r>
            <a:r>
              <a:rPr lang="ru-RU" altLang="ru-RU" sz="2000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 .     </a:t>
            </a:r>
            <a:endParaRPr lang="en-US" altLang="ru-RU" sz="2000">
              <a:latin typeface="Times New Roman" pitchFamily="18" charset="0"/>
              <a:cs typeface="Times New Roman" pitchFamily="18" charset="0"/>
            </a:endParaRPr>
          </a:p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 Следовательно, результирующее электростатическое поле внутри диэлектрика</a:t>
            </a:r>
          </a:p>
        </p:txBody>
      </p:sp>
      <p:graphicFrame>
        <p:nvGraphicFramePr>
          <p:cNvPr id="2050" name="Object 13"/>
          <p:cNvGraphicFramePr>
            <a:graphicFrameLocks noChangeAspect="1"/>
          </p:cNvGraphicFramePr>
          <p:nvPr/>
        </p:nvGraphicFramePr>
        <p:xfrm>
          <a:off x="3354388" y="5873750"/>
          <a:ext cx="1981200" cy="538163"/>
        </p:xfrm>
        <a:graphic>
          <a:graphicData uri="http://schemas.openxmlformats.org/presentationml/2006/ole">
            <p:oleObj spid="_x0000_s2050" name="Equation" r:id="rId4" imgW="876300" imgH="241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Заголовок 1"/>
          <p:cNvSpPr>
            <a:spLocks noGrp="1"/>
          </p:cNvSpPr>
          <p:nvPr>
            <p:ph type="title"/>
          </p:nvPr>
        </p:nvSpPr>
        <p:spPr bwMode="auto">
          <a:xfrm>
            <a:off x="868115" y="471488"/>
            <a:ext cx="7886700" cy="13255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sz="3600" b="1" dirty="0" smtClean="0">
                <a:latin typeface="Times New Roman" pitchFamily="18" charset="0"/>
                <a:cs typeface="Times New Roman" pitchFamily="18" charset="0"/>
              </a:rPr>
              <a:t>          Вектор поляризации Р </a:t>
            </a:r>
          </a:p>
        </p:txBody>
      </p:sp>
      <p:sp>
        <p:nvSpPr>
          <p:cNvPr id="3077" name="Содержимое 2"/>
          <p:cNvSpPr>
            <a:spLocks noGrp="1"/>
          </p:cNvSpPr>
          <p:nvPr>
            <p:ph idx="1"/>
          </p:nvPr>
        </p:nvSpPr>
        <p:spPr bwMode="auto">
          <a:xfrm>
            <a:off x="76200" y="1524000"/>
            <a:ext cx="8839200" cy="3657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Arial" pitchFamily="34" charset="0"/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Для количественного описания поляризации диэлектрика берут дипольный момент единицы объема</a:t>
            </a:r>
          </a:p>
          <a:p>
            <a:endParaRPr lang="ru-RU" altLang="ru-RU" sz="2000" dirty="0" smtClean="0"/>
          </a:p>
          <a:p>
            <a:pPr>
              <a:buFont typeface="Wingdings" pitchFamily="2" charset="2"/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 где 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</a:t>
            </a:r>
            <a:r>
              <a:rPr lang="en-US" altLang="ru-RU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 - бесконечно малый объем.</a:t>
            </a:r>
          </a:p>
          <a:p>
            <a:pPr>
              <a:buFont typeface="Wingdings" pitchFamily="2" charset="2"/>
              <a:buNone/>
            </a:pP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altLang="ru-RU" sz="2000" dirty="0" err="1" smtClean="0">
                <a:latin typeface="Times New Roman" pitchFamily="18" charset="0"/>
                <a:cs typeface="Times New Roman" pitchFamily="18" charset="0"/>
              </a:rPr>
              <a:t>Поляризованность</a:t>
            </a:r>
            <a:r>
              <a:rPr lang="ru-RU" altLang="ru-RU" sz="2000" dirty="0" smtClean="0">
                <a:latin typeface="Times New Roman" pitchFamily="18" charset="0"/>
                <a:cs typeface="Times New Roman" pitchFamily="18" charset="0"/>
              </a:rPr>
              <a:t> диэлектрика представима также в виде:</a:t>
            </a:r>
          </a:p>
        </p:txBody>
      </p:sp>
      <p:sp>
        <p:nvSpPr>
          <p:cNvPr id="4107" name="Прямоугольник 8"/>
          <p:cNvSpPr>
            <a:spLocks noChangeArrowheads="1"/>
          </p:cNvSpPr>
          <p:nvPr/>
        </p:nvSpPr>
        <p:spPr bwMode="auto">
          <a:xfrm>
            <a:off x="76200" y="4279900"/>
            <a:ext cx="8839200" cy="258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большинства диэлектриков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поляризованность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зависит от напряженности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Е.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Если диэлектрик изотропный, то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ϰ</a:t>
            </a:r>
            <a:r>
              <a:rPr lang="el-G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где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диэлектрическая восприимчивость.                  </a:t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                                       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nβ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000" dirty="0">
                <a:latin typeface="Times New Roman" pitchFamily="18" charset="0"/>
                <a:cs typeface="Times New Roman" pitchFamily="18" charset="0"/>
                <a:sym typeface="Symbol"/>
              </a:rPr>
              <a:t>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- поляризуемость одной молекулы,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 объёмная концентрация молекул.</a:t>
            </a:r>
          </a:p>
          <a:p>
            <a:pPr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Для спирта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ϰ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=25, для воды 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ϰ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=80.</a:t>
            </a:r>
          </a:p>
          <a:p>
            <a:pPr>
              <a:buFont typeface="Wingdings" pitchFamily="2" charset="2"/>
              <a:buNone/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None/>
              <a:defRPr/>
            </a:pPr>
            <a:endParaRPr lang="ru-RU" dirty="0"/>
          </a:p>
        </p:txBody>
      </p:sp>
      <p:graphicFrame>
        <p:nvGraphicFramePr>
          <p:cNvPr id="3074" name="Object 8"/>
          <p:cNvGraphicFramePr>
            <a:graphicFrameLocks noChangeAspect="1"/>
          </p:cNvGraphicFramePr>
          <p:nvPr/>
        </p:nvGraphicFramePr>
        <p:xfrm>
          <a:off x="3475038" y="1797050"/>
          <a:ext cx="1866900" cy="881063"/>
        </p:xfrm>
        <a:graphic>
          <a:graphicData uri="http://schemas.openxmlformats.org/presentationml/2006/ole">
            <p:oleObj spid="_x0000_s3074" name="Формула" r:id="rId3" imgW="888840" imgH="419040" progId="Equation.3">
              <p:embed/>
            </p:oleObj>
          </a:graphicData>
        </a:graphic>
      </p:graphicFrame>
      <p:graphicFrame>
        <p:nvGraphicFramePr>
          <p:cNvPr id="3075" name="Object 9"/>
          <p:cNvGraphicFramePr>
            <a:graphicFrameLocks noChangeAspect="1"/>
          </p:cNvGraphicFramePr>
          <p:nvPr/>
        </p:nvGraphicFramePr>
        <p:xfrm>
          <a:off x="3160713" y="3233738"/>
          <a:ext cx="2730500" cy="1046162"/>
        </p:xfrm>
        <a:graphic>
          <a:graphicData uri="http://schemas.openxmlformats.org/presentationml/2006/ole">
            <p:oleObj spid="_x0000_s3075" name="Формула" r:id="rId4" imgW="1358640" imgH="5205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7163" y="1496291"/>
            <a:ext cx="8986837" cy="38782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Поскольку поле внутри диэлектрика создаётся в результате поляризационных (связанных) зарядов на поверхности плоскости, то 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`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`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l-GR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ru-RU" sz="1600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как поле созданное двумя бесконечными заряженными плоскостями                    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Е=Е</a:t>
            </a:r>
            <a:r>
              <a:rPr lang="ru-RU" sz="2800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l-GR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`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ru-RU" sz="2800" baseline="-25000" dirty="0">
                <a:latin typeface="Times New Roman" pitchFamily="18" charset="0"/>
                <a:cs typeface="Times New Roman" pitchFamily="18" charset="0"/>
              </a:rPr>
              <a:t>0 </a:t>
            </a:r>
            <a:br>
              <a:rPr lang="ru-RU" sz="2800" baseline="-250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`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-поверхностная плотность связанных зарядов)</a:t>
            </a:r>
          </a:p>
          <a:p>
            <a:pPr>
              <a:defRPr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ru-RU" dirty="0"/>
              <a:t/>
            </a:r>
            <a:br>
              <a:rPr lang="ru-RU" dirty="0"/>
            </a:b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4463" y="3681484"/>
            <a:ext cx="7591425" cy="33861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  Полный дипольный момент пластинки диэлектрика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1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sz="2000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ru-RU" sz="2000" i="1" dirty="0" err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000" b="1" i="1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2000" i="1" dirty="0" err="1">
                <a:latin typeface="Times New Roman" pitchFamily="18" charset="0"/>
                <a:cs typeface="Times New Roman" pitchFamily="18" charset="0"/>
              </a:rPr>
              <a:t>Sd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S —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площадь грани пластинки, </a:t>
            </a:r>
            <a:r>
              <a:rPr lang="ru-RU" sz="2000" i="1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— ее толщина. </a:t>
            </a:r>
          </a:p>
          <a:p>
            <a:pPr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  Связанный заряд на гране диэлектрической пластинки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Q'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 σ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'S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 суммарный дипольный момент всего объёма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sz="1100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ru-RU" sz="11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Q' d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'S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000" i="1" dirty="0">
                <a:latin typeface="Times New Roman" pitchFamily="18" charset="0"/>
                <a:cs typeface="Times New Roman" pitchFamily="18" charset="0"/>
              </a:rPr>
            </a:b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После </a:t>
            </a:r>
            <a:r>
              <a:rPr lang="ru-RU" sz="2000" i="1" dirty="0" err="1">
                <a:latin typeface="Times New Roman" pitchFamily="18" charset="0"/>
                <a:cs typeface="Times New Roman" pitchFamily="18" charset="0"/>
              </a:rPr>
              <a:t>переобозначения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P(</a:t>
            </a:r>
            <a:r>
              <a:rPr lang="ru-RU" sz="2000" dirty="0" err="1">
                <a:latin typeface="Times New Roman" pitchFamily="18" charset="0"/>
                <a:cs typeface="Times New Roman" pitchFamily="18" charset="0"/>
              </a:rPr>
              <a:t>Sd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= (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'S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=&gt;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P=</a:t>
            </a:r>
            <a:r>
              <a:rPr lang="el-G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`</a:t>
            </a:r>
            <a:endParaRPr lang="ru-RU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Откуда 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400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 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`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400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400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ϰ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ru-RU" sz="24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400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ϰ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defRPr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1+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 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 тогда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400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l-GR" sz="2000" dirty="0">
                <a:latin typeface="Times New Roman" pitchFamily="18" charset="0"/>
                <a:cs typeface="Times New Roman" pitchFamily="18" charset="0"/>
              </a:rPr>
              <a:t>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–диэлектрическая проницаемость среды, безразмерная величина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1748" name="Прямоугольник 5"/>
          <p:cNvSpPr>
            <a:spLocks noChangeArrowheads="1"/>
          </p:cNvSpPr>
          <p:nvPr/>
        </p:nvSpPr>
        <p:spPr bwMode="auto">
          <a:xfrm>
            <a:off x="144463" y="287338"/>
            <a:ext cx="899953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Появление связанных зарядов приводит к возникновению дополнительного электрического поля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Е'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(поля, создаваемого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связанными зарядами),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которое направлено против внешнего поля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altLang="ru-RU" sz="2000" i="1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(поля, создаваемого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свободными зарядами)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и ослабляет его. 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endParaRPr lang="ru-RU" alt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Стрелка вправо 6"/>
          <p:cNvSpPr/>
          <p:nvPr/>
        </p:nvSpPr>
        <p:spPr>
          <a:xfrm>
            <a:off x="2033588" y="2851150"/>
            <a:ext cx="457200" cy="3746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31750" name="Picture 4" descr="https://studref.com/htm/img/31/8721/168.png"/>
          <p:cNvPicPr>
            <a:picLocks noChangeAspect="1" noChangeArrowheads="1"/>
          </p:cNvPicPr>
          <p:nvPr/>
        </p:nvPicPr>
        <p:blipFill>
          <a:blip r:embed="rId2"/>
          <a:srcRect l="3758" b="4822"/>
          <a:stretch>
            <a:fillRect/>
          </a:stretch>
        </p:blipFill>
        <p:spPr bwMode="auto">
          <a:xfrm>
            <a:off x="7591425" y="3600450"/>
            <a:ext cx="1539875" cy="203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1" name="TextBox 8"/>
          <p:cNvSpPr txBox="1">
            <a:spLocks noChangeArrowheads="1"/>
          </p:cNvSpPr>
          <p:nvPr/>
        </p:nvSpPr>
        <p:spPr bwMode="auto">
          <a:xfrm>
            <a:off x="8158163" y="5630863"/>
            <a:ext cx="3714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d</a:t>
            </a:r>
            <a:endParaRPr lang="ru-RU" altLang="ru-RU"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Номер слайда 1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7230DF2-D0AB-4898-8884-0748A398F829}" type="slidenum">
              <a:rPr lang="ru-RU" altLang="ru-RU" smtClean="0"/>
              <a:pPr/>
              <a:t>18</a:t>
            </a:fld>
            <a:endParaRPr lang="ru-RU" altLang="ru-RU" smtClean="0"/>
          </a:p>
        </p:txBody>
      </p:sp>
      <p:sp>
        <p:nvSpPr>
          <p:cNvPr id="32771" name="Прямоугольник 2"/>
          <p:cNvSpPr>
            <a:spLocks noChangeArrowheads="1"/>
          </p:cNvSpPr>
          <p:nvPr/>
        </p:nvSpPr>
        <p:spPr bwMode="auto">
          <a:xfrm>
            <a:off x="241300" y="225631"/>
            <a:ext cx="8686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Напряженность электростатического поля зависит от свойств среды. Вектор напряженности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Е,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переходя через границу диэлектриков, претерпевает скачкообразное изменение. Поэтому необходимо помимо вектора напряженности характеризовать поле еще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вектором электрического смещения </a:t>
            </a:r>
            <a:r>
              <a:rPr lang="en-US" altLang="ru-RU" sz="20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который для электрически изотропной среды определяется соотношением</a:t>
            </a:r>
            <a:endParaRPr lang="en-US" altLang="ru-RU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ru-RU" dirty="0">
                <a:latin typeface="Times New Roman" pitchFamily="18" charset="0"/>
                <a:cs typeface="Times New Roman" pitchFamily="18" charset="0"/>
              </a:rPr>
              <a:t>                                                    </a:t>
            </a:r>
            <a:r>
              <a:rPr lang="en-US" altLang="ru-RU" sz="24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ru-RU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altLang="ru-RU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ru-RU" sz="12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l-GR" altLang="ru-RU" sz="24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ru-RU" sz="2400" b="1" dirty="0">
                <a:latin typeface="Times New Roman" pitchFamily="18" charset="0"/>
                <a:cs typeface="Times New Roman" pitchFamily="18" charset="0"/>
              </a:rPr>
              <a:t>E</a:t>
            </a:r>
          </a:p>
          <a:p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Или       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altLang="ru-RU" sz="2000" dirty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(1+</a:t>
            </a:r>
            <a:r>
              <a:rPr lang="el-GR" altLang="ru-RU" sz="2000" dirty="0">
                <a:latin typeface="Times New Roman" pitchFamily="18" charset="0"/>
                <a:cs typeface="Times New Roman" pitchFamily="18" charset="0"/>
              </a:rPr>
              <a:t>ϰ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altLang="ru-RU" sz="2000" dirty="0">
                <a:latin typeface="Times New Roman" pitchFamily="18" charset="0"/>
                <a:cs typeface="Times New Roman" pitchFamily="18" charset="0"/>
              </a:rPr>
              <a:t> ε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l-GR" altLang="ru-RU" sz="2000" dirty="0">
                <a:latin typeface="Times New Roman" pitchFamily="18" charset="0"/>
                <a:cs typeface="Times New Roman" pitchFamily="18" charset="0"/>
              </a:rPr>
              <a:t> ϰ ε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altLang="ru-RU" sz="2000" dirty="0">
                <a:latin typeface="Times New Roman" pitchFamily="18" charset="0"/>
                <a:cs typeface="Times New Roman" pitchFamily="18" charset="0"/>
              </a:rPr>
              <a:t> ε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ru-RU" sz="2000" b="1" dirty="0"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 + Р</a:t>
            </a:r>
          </a:p>
          <a:p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Единица электрического смещения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altLang="ru-RU" sz="2000" b="1" i="1" dirty="0">
                <a:latin typeface="Times New Roman" pitchFamily="18" charset="0"/>
                <a:cs typeface="Times New Roman" pitchFamily="18" charset="0"/>
              </a:rPr>
              <a:t>кулон, деленный на метр в квадрате </a:t>
            </a:r>
            <a:r>
              <a:rPr lang="en-US" altLang="ru-RU" sz="2000" b="1" i="1" dirty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(Кл/м</a:t>
            </a:r>
            <a:r>
              <a:rPr lang="ru-RU" altLang="ru-RU" sz="2000" b="1" baseline="3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altLang="ru-RU" sz="2000" b="1" dirty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ru-RU" altLang="ru-RU" sz="2400" b="1" dirty="0"/>
              <a:t/>
            </a:r>
            <a:br>
              <a:rPr lang="ru-RU" altLang="ru-RU" sz="2400" b="1" dirty="0"/>
            </a:br>
            <a:endParaRPr lang="ru-RU" alt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Прямоугольник 1"/>
          <p:cNvSpPr>
            <a:spLocks noChangeArrowheads="1"/>
          </p:cNvSpPr>
          <p:nvPr/>
        </p:nvSpPr>
        <p:spPr bwMode="auto">
          <a:xfrm>
            <a:off x="304800" y="381000"/>
            <a:ext cx="8534400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Результирующее поле 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в диэлектрике описывается вектором напряженности </a:t>
            </a:r>
            <a:r>
              <a:rPr lang="ru-RU" altLang="ru-RU" sz="2400" b="1" i="1" dirty="0">
                <a:latin typeface="Times New Roman" pitchFamily="18" charset="0"/>
                <a:cs typeface="Times New Roman" pitchFamily="18" charset="0"/>
              </a:rPr>
              <a:t>Е,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и потому он зависит от свойств диэлектрика</a:t>
            </a:r>
            <a:r>
              <a:rPr lang="ru-RU" altLang="ru-RU" dirty="0"/>
              <a:t/>
            </a:r>
            <a:br>
              <a:rPr lang="ru-RU" altLang="ru-RU" dirty="0"/>
            </a:br>
            <a:endParaRPr lang="ru-RU" altLang="ru-RU" dirty="0"/>
          </a:p>
        </p:txBody>
      </p:sp>
      <p:sp>
        <p:nvSpPr>
          <p:cNvPr id="33795" name="Прямоугольник 3"/>
          <p:cNvSpPr>
            <a:spLocks noChangeArrowheads="1"/>
          </p:cNvSpPr>
          <p:nvPr/>
        </p:nvSpPr>
        <p:spPr bwMode="auto">
          <a:xfrm>
            <a:off x="304800" y="1489075"/>
            <a:ext cx="8686800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Связанные заряды, возникающие в диэлектрике, могут вызвать перераспределение свободных зарядов, создающих поле. Поэтому вектор </a:t>
            </a:r>
            <a:r>
              <a:rPr lang="en-US" altLang="ru-RU" sz="24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 характеризует электростатическое поле, создаваемое 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свободными зарядами 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(т.е. в вакууме), но при</a:t>
            </a:r>
            <a:r>
              <a:rPr lang="en-US" alt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таком их распределении в пространстве, какое имеется при 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наличии диэлектрика.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400" dirty="0">
                <a:latin typeface="Times New Roman" pitchFamily="18" charset="0"/>
                <a:cs typeface="Times New Roman" pitchFamily="18" charset="0"/>
              </a:rPr>
            </a:br>
            <a:endParaRPr lang="ru-RU" alt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796" name="Прямоугольник 4"/>
          <p:cNvSpPr>
            <a:spLocks noChangeArrowheads="1"/>
          </p:cNvSpPr>
          <p:nvPr/>
        </p:nvSpPr>
        <p:spPr bwMode="auto">
          <a:xfrm>
            <a:off x="162296" y="3752603"/>
            <a:ext cx="8534400" cy="258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-"/>
            </a:pPr>
            <a:r>
              <a:rPr lang="en-US" altLang="ru-RU" sz="24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иловые линии вектора </a:t>
            </a:r>
            <a:r>
              <a:rPr lang="ru-RU" altLang="ru-RU" sz="2400" b="1" i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 могут начинаться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и заканчиваться на любых зарядах —</a:t>
            </a:r>
            <a:r>
              <a:rPr lang="ru-RU" altLang="ru-RU" sz="2400" b="1" i="1" dirty="0">
                <a:latin typeface="Times New Roman" pitchFamily="18" charset="0"/>
                <a:cs typeface="Times New Roman" pitchFamily="18" charset="0"/>
              </a:rPr>
              <a:t>свободных и связанных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400" dirty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- Силовые 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линии вектора </a:t>
            </a:r>
            <a:r>
              <a:rPr lang="ru-RU" altLang="ru-RU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— начинаются и заканчиваются </a:t>
            </a:r>
            <a:r>
              <a:rPr lang="ru-RU" altLang="ru-RU" sz="2400" b="1" i="1" dirty="0">
                <a:latin typeface="Times New Roman" pitchFamily="18" charset="0"/>
                <a:cs typeface="Times New Roman" pitchFamily="18" charset="0"/>
              </a:rPr>
              <a:t>только на свободных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зарядах.</a:t>
            </a:r>
          </a:p>
          <a:p>
            <a:pPr>
              <a:buFontTx/>
              <a:buChar char="-"/>
            </a:pP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Через области поля, 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где находятся связанные заряды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, линии вектора </a:t>
            </a:r>
            <a:r>
              <a:rPr lang="ru-RU" altLang="ru-RU" sz="2400" b="1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altLang="ru-RU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dirty="0">
                <a:latin typeface="Times New Roman" pitchFamily="18" charset="0"/>
                <a:cs typeface="Times New Roman" pitchFamily="18" charset="0"/>
              </a:rPr>
              <a:t>проходят не прерываясь.</a:t>
            </a:r>
            <a:r>
              <a:rPr lang="ru-RU" altLang="ru-RU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dirty="0">
                <a:latin typeface="Times New Roman" pitchFamily="18" charset="0"/>
                <a:cs typeface="Times New Roman" pitchFamily="18" charset="0"/>
              </a:rPr>
            </a:br>
            <a:endParaRPr lang="ru-RU" alt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Прямоугольник 1"/>
          <p:cNvSpPr>
            <a:spLocks noChangeArrowheads="1"/>
          </p:cNvSpPr>
          <p:nvPr/>
        </p:nvSpPr>
        <p:spPr bwMode="auto">
          <a:xfrm>
            <a:off x="0" y="1116281"/>
            <a:ext cx="9144000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Для произвольной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замкнутой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поверхности </a:t>
            </a:r>
            <a:r>
              <a:rPr lang="en-US" altLang="ru-RU" sz="2000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поток вектора </a:t>
            </a:r>
            <a:r>
              <a:rPr lang="ru-RU" altLang="ru-RU" sz="2000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сквозь эту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r>
              <a:rPr lang="ru-RU" altLang="ru-RU" sz="2000" dirty="0">
                <a:latin typeface="Times New Roman" pitchFamily="18" charset="0"/>
                <a:cs typeface="Times New Roman" pitchFamily="18" charset="0"/>
              </a:rPr>
              <a:t>поверхность</a:t>
            </a:r>
            <a:br>
              <a:rPr lang="ru-RU" altLang="ru-RU" sz="2000" dirty="0">
                <a:latin typeface="Times New Roman" pitchFamily="18" charset="0"/>
                <a:cs typeface="Times New Roman" pitchFamily="18" charset="0"/>
              </a:rPr>
            </a:br>
            <a:endParaRPr lang="ru-RU" alt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altLang="ru-RU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349500" y="1797050"/>
          <a:ext cx="2260600" cy="644525"/>
        </p:xfrm>
        <a:graphic>
          <a:graphicData uri="http://schemas.openxmlformats.org/presentationml/2006/ole">
            <p:oleObj spid="_x0000_s4098" name="Формула" r:id="rId3" imgW="1333440" imgH="380880" progId="Equation.3">
              <p:embed/>
            </p:oleObj>
          </a:graphicData>
        </a:graphic>
      </p:graphicFrame>
      <p:sp>
        <p:nvSpPr>
          <p:cNvPr id="4104" name="Прямоугольник 4"/>
          <p:cNvSpPr>
            <a:spLocks noChangeArrowheads="1"/>
          </p:cNvSpPr>
          <p:nvPr/>
        </p:nvSpPr>
        <p:spPr bwMode="auto">
          <a:xfrm>
            <a:off x="0" y="2441575"/>
            <a:ext cx="8686800" cy="193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ru-RU" altLang="ru-RU" sz="2000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altLang="ru-RU" sz="1400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1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— проекция вектора </a:t>
            </a:r>
            <a:r>
              <a:rPr lang="ru-RU" altLang="ru-RU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на нормаль </a:t>
            </a:r>
            <a:r>
              <a:rPr lang="en-US" altLang="ru-RU" sz="20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к площадке 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dS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 Используя выражение для вектора </a:t>
            </a:r>
            <a:r>
              <a:rPr lang="en-US" altLang="ru-RU" sz="2000" b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ru-RU" sz="2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и подставляя его в выражение для теоремы Гаусса в вакууме, можно представить </a:t>
            </a:r>
            <a:endParaRPr lang="ru-RU" altLang="ru-RU" sz="2000" b="1" i="1">
              <a:latin typeface="Times New Roman" pitchFamily="18" charset="0"/>
              <a:cs typeface="Times New Roman" pitchFamily="18" charset="0"/>
            </a:endParaRPr>
          </a:p>
          <a:p>
            <a:r>
              <a:rPr lang="ru-RU" altLang="ru-RU" sz="2000" b="1" i="1">
                <a:latin typeface="Times New Roman" pitchFamily="18" charset="0"/>
                <a:cs typeface="Times New Roman" pitchFamily="18" charset="0"/>
              </a:rPr>
              <a:t>Теорему Гаусса для электростатического поля в диэлектрике:</a:t>
            </a:r>
            <a:r>
              <a:rPr lang="ru-RU" altLang="ru-RU" sz="2000" b="1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altLang="ru-RU" sz="2000" b="1">
                <a:latin typeface="Times New Roman" pitchFamily="18" charset="0"/>
                <a:cs typeface="Times New Roman" pitchFamily="18" charset="0"/>
              </a:rPr>
            </a:br>
            <a:r>
              <a:rPr lang="ru-RU" altLang="ru-RU"/>
              <a:t/>
            </a:r>
            <a:br>
              <a:rPr lang="ru-RU" altLang="ru-RU"/>
            </a:br>
            <a:endParaRPr lang="ru-RU" altLang="ru-RU"/>
          </a:p>
        </p:txBody>
      </p:sp>
      <p:sp>
        <p:nvSpPr>
          <p:cNvPr id="410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 altLang="ru-RU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2178050" y="3568700"/>
          <a:ext cx="3249613" cy="819150"/>
        </p:xfrm>
        <a:graphic>
          <a:graphicData uri="http://schemas.openxmlformats.org/presentationml/2006/ole">
            <p:oleObj spid="_x0000_s4099" name="Формула" r:id="rId4" imgW="1815840" imgH="457200" progId="Equation.3">
              <p:embed/>
            </p:oleObj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69850" y="4387850"/>
            <a:ext cx="8832850" cy="1384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Поток вектора смещения электростатического поля в диэлектрике сквозь произвольную замкнутую поверхность</a:t>
            </a:r>
            <a:r>
              <a:rPr lang="en-US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равен алгебраической сумме заключенных внутри этой поверхности свободных электрических зарядов.</a:t>
            </a:r>
            <a:r>
              <a:rPr lang="ru-RU" sz="2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4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7" name="Прямоугольник 9"/>
          <p:cNvSpPr>
            <a:spLocks noChangeArrowheads="1"/>
          </p:cNvSpPr>
          <p:nvPr/>
        </p:nvSpPr>
        <p:spPr bwMode="auto">
          <a:xfrm>
            <a:off x="0" y="503237"/>
            <a:ext cx="914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Теорема Гаусса для электростатического</a:t>
            </a:r>
            <a:r>
              <a:rPr lang="en-US" alt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altLang="ru-RU" sz="2400" b="1" dirty="0">
                <a:latin typeface="Times New Roman" pitchFamily="18" charset="0"/>
                <a:cs typeface="Times New Roman" pitchFamily="18" charset="0"/>
              </a:rPr>
              <a:t>поля в диэлектрике</a:t>
            </a:r>
            <a:endParaRPr lang="ru-RU" altLang="ru-RU" sz="2400" dirty="0"/>
          </a:p>
        </p:txBody>
      </p:sp>
      <p:sp>
        <p:nvSpPr>
          <p:cNvPr id="4108" name="Прямоугольник 10"/>
          <p:cNvSpPr>
            <a:spLocks noChangeArrowheads="1"/>
          </p:cNvSpPr>
          <p:nvPr/>
        </p:nvSpPr>
        <p:spPr bwMode="auto">
          <a:xfrm>
            <a:off x="69850" y="5919788"/>
            <a:ext cx="3378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altLang="ru-RU" sz="2000">
                <a:latin typeface="Times New Roman" pitchFamily="18" charset="0"/>
                <a:cs typeface="Times New Roman" pitchFamily="18" charset="0"/>
              </a:rPr>
              <a:t>В дифференциальной форме</a:t>
            </a:r>
            <a:r>
              <a:rPr lang="ru-RU" altLang="ru-RU" sz="2000" b="1" i="1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4100" name="Object 11"/>
          <p:cNvGraphicFramePr>
            <a:graphicFrameLocks noChangeAspect="1"/>
          </p:cNvGraphicFramePr>
          <p:nvPr/>
        </p:nvGraphicFramePr>
        <p:xfrm>
          <a:off x="3670300" y="5919788"/>
          <a:ext cx="971550" cy="452437"/>
        </p:xfrm>
        <a:graphic>
          <a:graphicData uri="http://schemas.openxmlformats.org/presentationml/2006/ole">
            <p:oleObj spid="_x0000_s4100" name="Equation" r:id="rId5" imgW="520474" imgH="241195" progId="">
              <p:embed/>
            </p:oleObj>
          </a:graphicData>
        </a:graphic>
      </p:graphicFrame>
      <p:sp>
        <p:nvSpPr>
          <p:cNvPr id="12" name="Двойная стрелка влево/вправо 11"/>
          <p:cNvSpPr/>
          <p:nvPr/>
        </p:nvSpPr>
        <p:spPr>
          <a:xfrm>
            <a:off x="4641850" y="5972175"/>
            <a:ext cx="603250" cy="40005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5461000" y="5932488"/>
          <a:ext cx="1279525" cy="477837"/>
        </p:xfrm>
        <a:graphic>
          <a:graphicData uri="http://schemas.openxmlformats.org/presentationml/2006/ole">
            <p:oleObj spid="_x0000_s4101" name="Формула" r:id="rId6" imgW="60948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7070F-C187-4E84-9F83-B65344905F9C}" type="slidenum">
              <a:rPr lang="ru-RU" altLang="ru-RU" smtClean="0"/>
              <a:pPr>
                <a:defRPr/>
              </a:pPr>
              <a:t>21</a:t>
            </a:fld>
            <a:endParaRPr lang="ru-RU" alt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516577" y="249382"/>
            <a:ext cx="822366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Линии векторов Е и D испытывают излом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на границе раздела. Это значит, что в диэлектрике с большим значением диэлектрической проницаемости линии Е и D будут составлять больший угол с нормалью к границе раздела.</a:t>
            </a:r>
          </a:p>
          <a:p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 переходе через границу раздела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тангенциальная составляющая вектора напряжённости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нормальная составляющая вектора смещения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изменяются непрерывно (если сторонних зарядов на границе раздела нет).</a:t>
            </a:r>
          </a:p>
          <a:p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Нормальная составляющая вектора напряжённости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тангенциальная составляющая вектора смещения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претерпевают скачок.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7070F-C187-4E84-9F83-B65344905F9C}" type="slidenum">
              <a:rPr lang="ru-RU" altLang="ru-RU" smtClean="0"/>
              <a:pPr>
                <a:defRPr/>
              </a:pPr>
              <a:t>22</a:t>
            </a:fld>
            <a:endParaRPr lang="ru-RU" altLang="ru-RU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8138" y="371475"/>
            <a:ext cx="8467725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7070F-C187-4E84-9F83-B65344905F9C}" type="slidenum">
              <a:rPr lang="ru-RU" altLang="ru-RU" smtClean="0"/>
              <a:pPr>
                <a:defRPr/>
              </a:pPr>
              <a:t>23</a:t>
            </a:fld>
            <a:endParaRPr lang="ru-RU" altLang="ru-RU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7638" y="190500"/>
            <a:ext cx="8848725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7070F-C187-4E84-9F83-B65344905F9C}" type="slidenum">
              <a:rPr lang="ru-RU" altLang="ru-RU" smtClean="0"/>
              <a:pPr>
                <a:defRPr/>
              </a:pPr>
              <a:t>24</a:t>
            </a:fld>
            <a:endParaRPr lang="ru-RU" altLang="ru-RU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" y="138113"/>
            <a:ext cx="8172450" cy="576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481944" y="3545383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</a:t>
            </a:r>
            <a:r>
              <a:rPr lang="ru-RU" dirty="0" smtClean="0"/>
              <a:t>лектростатического поля</a:t>
            </a:r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7070F-C187-4E84-9F83-B65344905F9C}" type="slidenum">
              <a:rPr lang="ru-RU" altLang="ru-RU" smtClean="0"/>
              <a:pPr>
                <a:defRPr/>
              </a:pPr>
              <a:t>25</a:t>
            </a:fld>
            <a:endParaRPr lang="ru-RU" altLang="ru-RU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 b="15712"/>
          <a:stretch>
            <a:fillRect/>
          </a:stretch>
        </p:blipFill>
        <p:spPr bwMode="auto">
          <a:xfrm>
            <a:off x="0" y="154379"/>
            <a:ext cx="8782050" cy="3990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5950" t="87047" r="3037"/>
          <a:stretch>
            <a:fillRect/>
          </a:stretch>
        </p:blipFill>
        <p:spPr bwMode="auto">
          <a:xfrm>
            <a:off x="522514" y="4146653"/>
            <a:ext cx="7992836" cy="61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5275" y="4940300"/>
            <a:ext cx="848677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7070F-C187-4E84-9F83-B65344905F9C}" type="slidenum">
              <a:rPr lang="ru-RU" altLang="ru-RU" smtClean="0"/>
              <a:pPr>
                <a:defRPr/>
              </a:pPr>
              <a:t>26</a:t>
            </a:fld>
            <a:endParaRPr lang="ru-RU" altLang="ru-RU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93445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6" y="2066925"/>
            <a:ext cx="799840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0988" y="2647950"/>
            <a:ext cx="8423625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37070F-C187-4E84-9F83-B65344905F9C}" type="slidenum">
              <a:rPr lang="ru-RU" altLang="ru-RU" smtClean="0"/>
              <a:pPr>
                <a:defRPr/>
              </a:pPr>
              <a:t>27</a:t>
            </a:fld>
            <a:endParaRPr lang="ru-RU" altLang="ru-RU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75" y="385763"/>
            <a:ext cx="8477250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Заголовок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u-RU" altLang="ru-RU" smtClean="0"/>
              <a:t>Спасибо за внимание!</a:t>
            </a:r>
          </a:p>
        </p:txBody>
      </p:sp>
      <p:sp>
        <p:nvSpPr>
          <p:cNvPr id="34819" name="Номер слайда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A8CBFD3-4831-4589-8A09-53D0185ECC53}" type="slidenum">
              <a:rPr lang="ru-RU" altLang="ru-RU" smtClean="0"/>
              <a:pPr/>
              <a:t>28</a:t>
            </a:fld>
            <a:endParaRPr lang="ru-RU" altLang="ru-RU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4207</TotalTime>
  <Words>1018</Words>
  <Application>Microsoft Office PowerPoint</Application>
  <PresentationFormat>Экран (4:3)</PresentationFormat>
  <Paragraphs>114</Paragraphs>
  <Slides>28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28</vt:i4>
      </vt:variant>
    </vt:vector>
  </HeadingPairs>
  <TitlesOfParts>
    <vt:vector size="31" baseType="lpstr">
      <vt:lpstr>Специальное оформление</vt:lpstr>
      <vt:lpstr>Equation</vt:lpstr>
      <vt:lpstr>Формула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          Вектор поляризации Р 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1</cp:lastModifiedBy>
  <cp:revision>263</cp:revision>
  <dcterms:created xsi:type="dcterms:W3CDTF">2015-07-29T11:14:37Z</dcterms:created>
  <dcterms:modified xsi:type="dcterms:W3CDTF">2025-06-18T16:46:56Z</dcterms:modified>
</cp:coreProperties>
</file>